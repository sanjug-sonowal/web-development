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6843" y="3887812"/>
            <a:ext cx="1219566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p:cNvSpPr/>
          <p:nvPr/>
        </p:nvSpPr>
        <p:spPr>
          <a:xfrm>
            <a:off x="-6843" y="2059012"/>
            <a:ext cx="12195668" cy="182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72440" y="2194560"/>
            <a:ext cx="11247120" cy="1739347"/>
          </a:xfrm>
        </p:spPr>
        <p:txBody>
          <a:bodyPr tIns="45720" bIns="45720" anchor="ctr">
            <a:normAutofit/>
          </a:bodyPr>
          <a:lstStyle>
            <a:lvl1pPr algn="ctr">
              <a:lnSpc>
                <a:spcPct val="80000"/>
              </a:lnSpc>
              <a:defRPr sz="6000" spc="15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342900" y="3915938"/>
            <a:ext cx="11506200" cy="457200"/>
          </a:xfrm>
        </p:spPr>
        <p:txBody>
          <a:bodyPr>
            <a:normAutofit/>
          </a:bodyPr>
          <a:lstStyle>
            <a:lvl1pPr marL="0" indent="0" algn="ctr">
              <a:buNone/>
              <a:defRPr sz="2000">
                <a:solidFill>
                  <a:srgbClr val="FFFFFF"/>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A579BC20-A0AB-410E-A497-8582850EFE94}" type="datetimeFigureOut">
              <a:rPr lang="en-IN" smtClean="0"/>
              <a:t>04-11-2020</a:t>
            </a:fld>
            <a:endParaRPr lang="en-IN"/>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5AF6BADD-546E-4234-9808-D7D8CFB724A4}" type="slidenum">
              <a:rPr lang="en-IN" smtClean="0"/>
              <a:t>‹#›</a:t>
            </a:fld>
            <a:endParaRPr lang="en-IN"/>
          </a:p>
        </p:txBody>
      </p:sp>
    </p:spTree>
    <p:extLst>
      <p:ext uri="{BB962C8B-B14F-4D97-AF65-F5344CB8AC3E}">
        <p14:creationId xmlns:p14="http://schemas.microsoft.com/office/powerpoint/2010/main" val="768463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79BC20-A0AB-410E-A497-8582850EFE94}" type="datetimeFigureOut">
              <a:rPr lang="en-IN" smtClean="0"/>
              <a:t>04-11-2020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2131178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43" y="3887812"/>
            <a:ext cx="1219566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75488" y="2194560"/>
            <a:ext cx="11247120" cy="1737360"/>
          </a:xfrm>
        </p:spPr>
        <p:txBody>
          <a:bodyPr anchor="ctr">
            <a:noAutofit/>
          </a:bodyPr>
          <a:lstStyle>
            <a:lvl1pPr algn="ctr">
              <a:lnSpc>
                <a:spcPct val="80000"/>
              </a:lnSpc>
              <a:defRPr sz="6000" b="0" spc="150" baseline="0">
                <a:solidFill>
                  <a:srgbClr val="FFFF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47472" y="3911827"/>
            <a:ext cx="11503152" cy="457200"/>
          </a:xfrm>
        </p:spPr>
        <p:txBody>
          <a:bodyPr anchor="t">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A579BC20-A0AB-410E-A497-8582850EFE94}" type="datetimeFigureOut">
              <a:rPr lang="en-IN" smtClean="0"/>
              <a:t>04-11-2020</a:t>
            </a:fld>
            <a:endParaRPr lang="en-IN"/>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5AF6BADD-546E-4234-9808-D7D8CFB724A4}" type="slidenum">
              <a:rPr lang="en-IN" smtClean="0"/>
              <a:t>‹#›</a:t>
            </a:fld>
            <a:endParaRPr lang="en-IN"/>
          </a:p>
        </p:txBody>
      </p:sp>
    </p:spTree>
    <p:extLst>
      <p:ext uri="{BB962C8B-B14F-4D97-AF65-F5344CB8AC3E}">
        <p14:creationId xmlns:p14="http://schemas.microsoft.com/office/powerpoint/2010/main" val="2106922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79BC20-A0AB-410E-A497-8582850EFE94}" type="datetimeFigureOut">
              <a:rPr lang="en-IN" smtClean="0"/>
              <a:t>04-11-2020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1215827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79BC20-A0AB-410E-A497-8582850EFE94}" type="datetimeFigureOut">
              <a:rPr lang="en-IN" smtClean="0"/>
              <a:t>04-11-2020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3835234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79BC20-A0AB-410E-A497-8582850EFE94}" type="datetimeFigureOut">
              <a:rPr lang="en-IN" smtClean="0"/>
              <a:t>04-11-2020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1068662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9BC20-A0AB-410E-A497-8582850EFE94}" type="datetimeFigureOut">
              <a:rPr lang="en-IN" smtClean="0"/>
              <a:t>04-11-2020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162525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79BC20-A0AB-410E-A497-8582850EFE94}" type="datetimeFigureOut">
              <a:rPr lang="en-IN" smtClean="0"/>
              <a:t>04-11-2020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1564378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79BC20-A0AB-410E-A497-8582850EFE94}" type="datetimeFigureOut">
              <a:rPr lang="en-IN" smtClean="0"/>
              <a:t>04-11-2020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4017030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79BC20-A0AB-410E-A497-8582850EFE94}" type="datetimeFigureOut">
              <a:rPr lang="en-IN" smtClean="0"/>
              <a:t>04-11-2020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2436559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A579BC20-A0AB-410E-A497-8582850EFE94}" type="datetimeFigureOut">
              <a:rPr lang="en-IN" smtClean="0"/>
              <a:t>04-11-2020</a:t>
            </a:fld>
            <a:endParaRPr lang="en-IN"/>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5AF6BADD-546E-4234-9808-D7D8CFB724A4}" type="slidenum">
              <a:rPr lang="en-IN" smtClean="0"/>
              <a:t>‹#›</a:t>
            </a:fld>
            <a:endParaRPr lang="en-IN"/>
          </a:p>
        </p:txBody>
      </p:sp>
    </p:spTree>
    <p:extLst>
      <p:ext uri="{BB962C8B-B14F-4D97-AF65-F5344CB8AC3E}">
        <p14:creationId xmlns:p14="http://schemas.microsoft.com/office/powerpoint/2010/main" val="203761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A579BC20-A0AB-410E-A497-8582850EFE94}" type="datetimeFigureOut">
              <a:rPr lang="en-IN" smtClean="0"/>
              <a:t>04-11-2020</a:t>
            </a:fld>
            <a:endParaRPr lang="en-IN"/>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5AF6BADD-546E-4234-9808-D7D8CFB724A4}" type="slidenum">
              <a:rPr lang="en-IN" smtClean="0"/>
              <a:t>‹#›</a:t>
            </a:fld>
            <a:endParaRPr lang="en-IN"/>
          </a:p>
        </p:txBody>
      </p:sp>
    </p:spTree>
    <p:extLst>
      <p:ext uri="{BB962C8B-B14F-4D97-AF65-F5344CB8AC3E}">
        <p14:creationId xmlns:p14="http://schemas.microsoft.com/office/powerpoint/2010/main" val="202080087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000" kern="1200" cap="all"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w3.org/TR/html5/" TargetMode="External"/><Relationship Id="rId2" Type="http://schemas.openxmlformats.org/officeDocument/2006/relationships/hyperlink" Target="http://whatwg.org/html/" TargetMode="External"/><Relationship Id="rId1" Type="http://schemas.openxmlformats.org/officeDocument/2006/relationships/slideLayout" Target="../slideLayouts/slideLayout2.xml"/><Relationship Id="rId5" Type="http://schemas.openxmlformats.org/officeDocument/2006/relationships/hyperlink" Target="http://www.w3.org/TR/html52/" TargetMode="External"/><Relationship Id="rId4" Type="http://schemas.openxmlformats.org/officeDocument/2006/relationships/hyperlink" Target="http://www.w3.org/TR/html5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8C8C-A52D-4C17-9A25-3D5A6298112E}"/>
              </a:ext>
            </a:extLst>
          </p:cNvPr>
          <p:cNvSpPr>
            <a:spLocks noGrp="1"/>
          </p:cNvSpPr>
          <p:nvPr>
            <p:ph type="ctrTitle"/>
          </p:nvPr>
        </p:nvSpPr>
        <p:spPr/>
        <p:txBody>
          <a:bodyPr/>
          <a:lstStyle/>
          <a:p>
            <a:r>
              <a:rPr lang="en-IN" dirty="0"/>
              <a:t>HTML SESSIONS</a:t>
            </a:r>
          </a:p>
        </p:txBody>
      </p:sp>
      <p:sp>
        <p:nvSpPr>
          <p:cNvPr id="3" name="Subtitle 2">
            <a:extLst>
              <a:ext uri="{FF2B5EF4-FFF2-40B4-BE49-F238E27FC236}">
                <a16:creationId xmlns:a16="http://schemas.microsoft.com/office/drawing/2014/main" id="{F343329D-A476-4A13-9147-94FD9F12A97B}"/>
              </a:ext>
            </a:extLst>
          </p:cNvPr>
          <p:cNvSpPr>
            <a:spLocks noGrp="1"/>
          </p:cNvSpPr>
          <p:nvPr>
            <p:ph type="subTitle" idx="1"/>
          </p:nvPr>
        </p:nvSpPr>
        <p:spPr/>
        <p:txBody>
          <a:bodyPr/>
          <a:lstStyle/>
          <a:p>
            <a:r>
              <a:rPr lang="en-IN" dirty="0"/>
              <a:t>ONLINE WEBINAR #1</a:t>
            </a:r>
          </a:p>
        </p:txBody>
      </p:sp>
    </p:spTree>
    <p:extLst>
      <p:ext uri="{BB962C8B-B14F-4D97-AF65-F5344CB8AC3E}">
        <p14:creationId xmlns:p14="http://schemas.microsoft.com/office/powerpoint/2010/main" val="2222185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547E6-E191-4526-B238-256421FF0563}"/>
              </a:ext>
            </a:extLst>
          </p:cNvPr>
          <p:cNvSpPr>
            <a:spLocks noGrp="1"/>
          </p:cNvSpPr>
          <p:nvPr>
            <p:ph type="title"/>
          </p:nvPr>
        </p:nvSpPr>
        <p:spPr/>
        <p:txBody>
          <a:bodyPr/>
          <a:lstStyle/>
          <a:p>
            <a:r>
              <a:rPr lang="en-IN" dirty="0"/>
              <a:t>HTML INTRODUCTION</a:t>
            </a:r>
          </a:p>
        </p:txBody>
      </p:sp>
      <p:sp>
        <p:nvSpPr>
          <p:cNvPr id="3" name="Content Placeholder 2">
            <a:extLst>
              <a:ext uri="{FF2B5EF4-FFF2-40B4-BE49-F238E27FC236}">
                <a16:creationId xmlns:a16="http://schemas.microsoft.com/office/drawing/2014/main" id="{20DBA12B-69DA-40F9-9052-8E30D05F3789}"/>
              </a:ext>
            </a:extLst>
          </p:cNvPr>
          <p:cNvSpPr>
            <a:spLocks noGrp="1"/>
          </p:cNvSpPr>
          <p:nvPr>
            <p:ph idx="1"/>
          </p:nvPr>
        </p:nvSpPr>
        <p:spPr/>
        <p:txBody>
          <a:bodyPr>
            <a:normAutofit/>
          </a:bodyPr>
          <a:lstStyle/>
          <a:p>
            <a:r>
              <a:rPr lang="en-US" sz="7200" b="1" dirty="0"/>
              <a:t>HTML is the standard markup language for creating Web pages.</a:t>
            </a:r>
            <a:endParaRPr lang="en-IN" sz="7200" b="1" dirty="0"/>
          </a:p>
        </p:txBody>
      </p:sp>
    </p:spTree>
    <p:extLst>
      <p:ext uri="{BB962C8B-B14F-4D97-AF65-F5344CB8AC3E}">
        <p14:creationId xmlns:p14="http://schemas.microsoft.com/office/powerpoint/2010/main" val="3343813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76C25-F668-44E5-A427-F8E5C7B2CD83}"/>
              </a:ext>
            </a:extLst>
          </p:cNvPr>
          <p:cNvSpPr>
            <a:spLocks noGrp="1"/>
          </p:cNvSpPr>
          <p:nvPr>
            <p:ph type="title"/>
          </p:nvPr>
        </p:nvSpPr>
        <p:spPr/>
        <p:txBody>
          <a:bodyPr/>
          <a:lstStyle/>
          <a:p>
            <a:r>
              <a:rPr lang="en-IN" dirty="0"/>
              <a:t>WHAT IS HTML?</a:t>
            </a:r>
          </a:p>
        </p:txBody>
      </p:sp>
      <p:sp>
        <p:nvSpPr>
          <p:cNvPr id="3" name="Content Placeholder 2">
            <a:extLst>
              <a:ext uri="{FF2B5EF4-FFF2-40B4-BE49-F238E27FC236}">
                <a16:creationId xmlns:a16="http://schemas.microsoft.com/office/drawing/2014/main" id="{4A201EAA-B7D4-421B-A8E6-274121B72E5B}"/>
              </a:ext>
            </a:extLst>
          </p:cNvPr>
          <p:cNvSpPr>
            <a:spLocks noGrp="1"/>
          </p:cNvSpPr>
          <p:nvPr>
            <p:ph idx="1"/>
          </p:nvPr>
        </p:nvSpPr>
        <p:spPr/>
        <p:txBody>
          <a:bodyPr/>
          <a:lstStyle/>
          <a:p>
            <a:r>
              <a:rPr lang="en-US" sz="2400" b="1" dirty="0"/>
              <a:t>HTML stands for Hyper Text Markup Language</a:t>
            </a:r>
          </a:p>
          <a:p>
            <a:r>
              <a:rPr lang="en-US" sz="2400" b="1" dirty="0"/>
              <a:t>HTML is the standard markup language for creating Web pages</a:t>
            </a:r>
          </a:p>
          <a:p>
            <a:r>
              <a:rPr lang="en-US" sz="2400" b="1" dirty="0"/>
              <a:t>HTML describes the structure of a Web page</a:t>
            </a:r>
          </a:p>
          <a:p>
            <a:r>
              <a:rPr lang="en-US" sz="2400" b="1" dirty="0"/>
              <a:t>HTML consists of a series of elements</a:t>
            </a:r>
          </a:p>
          <a:p>
            <a:r>
              <a:rPr lang="en-US" sz="2400" b="1" dirty="0"/>
              <a:t>HTML elements tell the browser how to display the content</a:t>
            </a:r>
          </a:p>
          <a:p>
            <a:r>
              <a:rPr lang="en-US" sz="2400" b="1" dirty="0"/>
              <a:t>HTML elements label pieces of content such as "this is a heading", "this is a paragraph", "this is a link", etc.</a:t>
            </a:r>
          </a:p>
          <a:p>
            <a:endParaRPr lang="en-IN" dirty="0"/>
          </a:p>
        </p:txBody>
      </p:sp>
    </p:spTree>
    <p:extLst>
      <p:ext uri="{BB962C8B-B14F-4D97-AF65-F5344CB8AC3E}">
        <p14:creationId xmlns:p14="http://schemas.microsoft.com/office/powerpoint/2010/main" val="663677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BB913-5021-4BE4-A5AB-E89D3FF610FE}"/>
              </a:ext>
            </a:extLst>
          </p:cNvPr>
          <p:cNvSpPr>
            <a:spLocks noGrp="1"/>
          </p:cNvSpPr>
          <p:nvPr>
            <p:ph type="title"/>
          </p:nvPr>
        </p:nvSpPr>
        <p:spPr/>
        <p:txBody>
          <a:bodyPr/>
          <a:lstStyle/>
          <a:p>
            <a:r>
              <a:rPr lang="en-IN" dirty="0"/>
              <a:t>SIMPLE HTML DOCUMENT</a:t>
            </a:r>
          </a:p>
        </p:txBody>
      </p:sp>
      <p:sp>
        <p:nvSpPr>
          <p:cNvPr id="3" name="Content Placeholder 2">
            <a:extLst>
              <a:ext uri="{FF2B5EF4-FFF2-40B4-BE49-F238E27FC236}">
                <a16:creationId xmlns:a16="http://schemas.microsoft.com/office/drawing/2014/main" id="{69D31CDB-2B7A-4FF5-AC2B-EE53835CE952}"/>
              </a:ext>
            </a:extLst>
          </p:cNvPr>
          <p:cNvSpPr>
            <a:spLocks noGrp="1"/>
          </p:cNvSpPr>
          <p:nvPr>
            <p:ph idx="1"/>
          </p:nvPr>
        </p:nvSpPr>
        <p:spPr/>
        <p:txBody>
          <a:bodyPr/>
          <a:lstStyle/>
          <a:p>
            <a:r>
              <a:rPr lang="en-US" sz="2400" b="1" dirty="0">
                <a:solidFill>
                  <a:srgbClr val="00B050"/>
                </a:solidFill>
              </a:rPr>
              <a:t>&lt;!DOCTYPE html&gt;</a:t>
            </a:r>
            <a:br>
              <a:rPr lang="en-US" sz="2400" b="1" dirty="0">
                <a:solidFill>
                  <a:srgbClr val="00B050"/>
                </a:solidFill>
              </a:rPr>
            </a:br>
            <a:r>
              <a:rPr lang="en-US" sz="2400" b="1" dirty="0">
                <a:solidFill>
                  <a:srgbClr val="00B050"/>
                </a:solidFill>
              </a:rPr>
              <a:t>&lt;html&gt;</a:t>
            </a:r>
            <a:br>
              <a:rPr lang="en-US" sz="2400" b="1" dirty="0">
                <a:solidFill>
                  <a:srgbClr val="00B050"/>
                </a:solidFill>
              </a:rPr>
            </a:br>
            <a:r>
              <a:rPr lang="en-US" sz="2400" b="1" dirty="0">
                <a:solidFill>
                  <a:srgbClr val="00B050"/>
                </a:solidFill>
              </a:rPr>
              <a:t>&lt;head&gt;</a:t>
            </a:r>
            <a:br>
              <a:rPr lang="en-US" sz="2400" b="1" dirty="0">
                <a:solidFill>
                  <a:srgbClr val="00B050"/>
                </a:solidFill>
              </a:rPr>
            </a:br>
            <a:r>
              <a:rPr lang="en-US" sz="2400" b="1" dirty="0">
                <a:solidFill>
                  <a:srgbClr val="00B050"/>
                </a:solidFill>
              </a:rPr>
              <a:t>&lt;title&gt;</a:t>
            </a:r>
            <a:r>
              <a:rPr lang="en-US" sz="2400" b="1" dirty="0"/>
              <a:t>Page Title</a:t>
            </a:r>
            <a:r>
              <a:rPr lang="en-US" sz="2400" b="1" dirty="0">
                <a:solidFill>
                  <a:srgbClr val="00B050"/>
                </a:solidFill>
              </a:rPr>
              <a:t>&lt;/title&gt;</a:t>
            </a:r>
            <a:br>
              <a:rPr lang="en-US" sz="2400" b="1" dirty="0">
                <a:solidFill>
                  <a:srgbClr val="00B050"/>
                </a:solidFill>
              </a:rPr>
            </a:br>
            <a:r>
              <a:rPr lang="en-US" sz="2400" b="1" dirty="0">
                <a:solidFill>
                  <a:srgbClr val="00B050"/>
                </a:solidFill>
              </a:rPr>
              <a:t>&lt;/head&gt;</a:t>
            </a:r>
            <a:br>
              <a:rPr lang="en-US" sz="2400" b="1" dirty="0">
                <a:solidFill>
                  <a:srgbClr val="00B050"/>
                </a:solidFill>
              </a:rPr>
            </a:br>
            <a:r>
              <a:rPr lang="en-US" sz="2400" b="1" dirty="0">
                <a:solidFill>
                  <a:srgbClr val="00B050"/>
                </a:solidFill>
              </a:rPr>
              <a:t>&lt;body&gt;</a:t>
            </a:r>
            <a:br>
              <a:rPr lang="en-US" sz="2400" b="1" dirty="0">
                <a:solidFill>
                  <a:srgbClr val="00B050"/>
                </a:solidFill>
              </a:rPr>
            </a:br>
            <a:br>
              <a:rPr lang="en-US" sz="2400" b="1" dirty="0">
                <a:solidFill>
                  <a:srgbClr val="00B050"/>
                </a:solidFill>
              </a:rPr>
            </a:br>
            <a:r>
              <a:rPr lang="en-US" sz="2400" b="1" dirty="0">
                <a:solidFill>
                  <a:srgbClr val="00B050"/>
                </a:solidFill>
              </a:rPr>
              <a:t>&lt;h1&gt;</a:t>
            </a:r>
            <a:r>
              <a:rPr lang="en-US" sz="2400" b="1" dirty="0"/>
              <a:t>My First Heading</a:t>
            </a:r>
            <a:r>
              <a:rPr lang="en-US" sz="2400" b="1" dirty="0">
                <a:solidFill>
                  <a:srgbClr val="00B050"/>
                </a:solidFill>
              </a:rPr>
              <a:t>&lt;/h1&gt;</a:t>
            </a:r>
            <a:br>
              <a:rPr lang="en-US" sz="2400" b="1" dirty="0">
                <a:solidFill>
                  <a:srgbClr val="00B050"/>
                </a:solidFill>
              </a:rPr>
            </a:br>
            <a:r>
              <a:rPr lang="en-US" sz="2400" b="1" dirty="0">
                <a:solidFill>
                  <a:srgbClr val="00B050"/>
                </a:solidFill>
              </a:rPr>
              <a:t>&lt;p&gt;</a:t>
            </a:r>
            <a:r>
              <a:rPr lang="en-US" sz="2400" b="1" dirty="0"/>
              <a:t>My first paragraph</a:t>
            </a:r>
            <a:r>
              <a:rPr lang="en-US" sz="2400" b="1" dirty="0">
                <a:solidFill>
                  <a:srgbClr val="00B050"/>
                </a:solidFill>
              </a:rPr>
              <a:t>&lt;/p&gt;</a:t>
            </a:r>
            <a:br>
              <a:rPr lang="en-US" sz="2400" b="1" dirty="0">
                <a:solidFill>
                  <a:srgbClr val="00B050"/>
                </a:solidFill>
              </a:rPr>
            </a:br>
            <a:br>
              <a:rPr lang="en-US" sz="2400" b="1" dirty="0">
                <a:solidFill>
                  <a:srgbClr val="00B050"/>
                </a:solidFill>
              </a:rPr>
            </a:br>
            <a:r>
              <a:rPr lang="en-US" sz="2400" b="1" dirty="0">
                <a:solidFill>
                  <a:srgbClr val="00B050"/>
                </a:solidFill>
              </a:rPr>
              <a:t>&lt;/body&gt;</a:t>
            </a:r>
            <a:br>
              <a:rPr lang="en-US" sz="2400" b="1" dirty="0">
                <a:solidFill>
                  <a:srgbClr val="00B050"/>
                </a:solidFill>
              </a:rPr>
            </a:br>
            <a:r>
              <a:rPr lang="en-US" sz="2400" b="1" dirty="0">
                <a:solidFill>
                  <a:srgbClr val="00B050"/>
                </a:solidFill>
              </a:rPr>
              <a:t>&lt;/html&gt; </a:t>
            </a:r>
          </a:p>
          <a:p>
            <a:endParaRPr lang="en-IN" dirty="0"/>
          </a:p>
        </p:txBody>
      </p:sp>
    </p:spTree>
    <p:extLst>
      <p:ext uri="{BB962C8B-B14F-4D97-AF65-F5344CB8AC3E}">
        <p14:creationId xmlns:p14="http://schemas.microsoft.com/office/powerpoint/2010/main" val="815786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43E5-1395-4E78-83A4-33A1746AE3FF}"/>
              </a:ext>
            </a:extLst>
          </p:cNvPr>
          <p:cNvSpPr>
            <a:spLocks noGrp="1"/>
          </p:cNvSpPr>
          <p:nvPr>
            <p:ph type="title"/>
          </p:nvPr>
        </p:nvSpPr>
        <p:spPr/>
        <p:txBody>
          <a:bodyPr/>
          <a:lstStyle/>
          <a:p>
            <a:r>
              <a:rPr lang="en-IN" dirty="0"/>
              <a:t>EXPLAINATION</a:t>
            </a:r>
          </a:p>
        </p:txBody>
      </p:sp>
      <p:sp>
        <p:nvSpPr>
          <p:cNvPr id="4" name="Rectangle 1">
            <a:extLst>
              <a:ext uri="{FF2B5EF4-FFF2-40B4-BE49-F238E27FC236}">
                <a16:creationId xmlns:a16="http://schemas.microsoft.com/office/drawing/2014/main" id="{B24E76D2-0C5F-4CB3-9B35-4311C42D9BBD}"/>
              </a:ext>
            </a:extLst>
          </p:cNvPr>
          <p:cNvSpPr>
            <a:spLocks noGrp="1" noChangeArrowheads="1"/>
          </p:cNvSpPr>
          <p:nvPr>
            <p:ph idx="1"/>
          </p:nvPr>
        </p:nvSpPr>
        <p:spPr bwMode="auto">
          <a:xfrm>
            <a:off x="585277" y="1792936"/>
            <a:ext cx="11019363"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&lt;!DOCTYPE html&gt; </a:t>
            </a:r>
            <a:r>
              <a:rPr lang="en-US" altLang="en-US" sz="2400" b="1"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This </a:t>
            </a:r>
            <a:r>
              <a:rPr lang="en-US" altLang="en-US" sz="2400" b="1" dirty="0">
                <a:latin typeface="Arial" panose="020B0604020202020204" pitchFamily="34" charset="0"/>
              </a:rPr>
              <a:t>Declaration Line Defines That This Document is an HTML5 Document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&lt;html&gt;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This Elements is the root element of an HTML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&lt;head&gt;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This Element contains meta </a:t>
            </a:r>
            <a:r>
              <a:rPr lang="en-US" altLang="en-US" sz="2400" b="1" dirty="0">
                <a:latin typeface="Arial" panose="020B0604020202020204" pitchFamily="34" charset="0"/>
              </a:rPr>
              <a:t>I</a:t>
            </a:r>
            <a:r>
              <a:rPr kumimoji="0" lang="en-US" altLang="en-US" sz="2400" b="1" i="0" u="none" strike="noStrike" cap="none" normalizeH="0" baseline="0" dirty="0">
                <a:ln>
                  <a:noFill/>
                </a:ln>
                <a:solidFill>
                  <a:schemeClr val="tx1"/>
                </a:solidFill>
                <a:effectLst/>
                <a:latin typeface="Arial" panose="020B0604020202020204" pitchFamily="34" charset="0"/>
              </a:rPr>
              <a:t>nformation about the HTML page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&lt;title&gt;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This Elements specifies a title for that HTML page (Which is shown in the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browser’s title bar or in the page’s tab)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9931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43E5-1395-4E78-83A4-33A1746AE3FF}"/>
              </a:ext>
            </a:extLst>
          </p:cNvPr>
          <p:cNvSpPr>
            <a:spLocks noGrp="1"/>
          </p:cNvSpPr>
          <p:nvPr>
            <p:ph type="title"/>
          </p:nvPr>
        </p:nvSpPr>
        <p:spPr/>
        <p:txBody>
          <a:bodyPr/>
          <a:lstStyle/>
          <a:p>
            <a:r>
              <a:rPr lang="en-IN" dirty="0"/>
              <a:t>EXPLAINATION</a:t>
            </a:r>
          </a:p>
        </p:txBody>
      </p:sp>
      <p:sp>
        <p:nvSpPr>
          <p:cNvPr id="4" name="Rectangle 1">
            <a:extLst>
              <a:ext uri="{FF2B5EF4-FFF2-40B4-BE49-F238E27FC236}">
                <a16:creationId xmlns:a16="http://schemas.microsoft.com/office/drawing/2014/main" id="{B24E76D2-0C5F-4CB3-9B35-4311C42D9BBD}"/>
              </a:ext>
            </a:extLst>
          </p:cNvPr>
          <p:cNvSpPr>
            <a:spLocks noGrp="1" noChangeArrowheads="1"/>
          </p:cNvSpPr>
          <p:nvPr>
            <p:ph idx="1"/>
          </p:nvPr>
        </p:nvSpPr>
        <p:spPr bwMode="auto">
          <a:xfrm>
            <a:off x="585277" y="2485438"/>
            <a:ext cx="10741467"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&lt;body&gt;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This Element defines the document’s body, and is a container for all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Visible contents, such as headings , paragraphs , images , hyperlinks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Lists ,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&lt;h1&gt;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This Element defines a Large heading</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&lt;p&gt;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latin typeface="Arial" panose="020B0604020202020204" pitchFamily="34" charset="0"/>
              </a:rPr>
              <a:t>This Element defines a paragraph</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4628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F655-EF24-4741-9D8D-C39F7145319F}"/>
              </a:ext>
            </a:extLst>
          </p:cNvPr>
          <p:cNvSpPr>
            <a:spLocks noGrp="1"/>
          </p:cNvSpPr>
          <p:nvPr>
            <p:ph type="title"/>
          </p:nvPr>
        </p:nvSpPr>
        <p:spPr/>
        <p:txBody>
          <a:bodyPr/>
          <a:lstStyle/>
          <a:p>
            <a:r>
              <a:rPr lang="en-IN" dirty="0"/>
              <a:t>WHAT IS AN HTML ELEMENT?</a:t>
            </a:r>
          </a:p>
        </p:txBody>
      </p:sp>
      <p:sp>
        <p:nvSpPr>
          <p:cNvPr id="3" name="Content Placeholder 2">
            <a:extLst>
              <a:ext uri="{FF2B5EF4-FFF2-40B4-BE49-F238E27FC236}">
                <a16:creationId xmlns:a16="http://schemas.microsoft.com/office/drawing/2014/main" id="{CC88674D-4826-434B-ACA1-6E14E6148DAD}"/>
              </a:ext>
            </a:extLst>
          </p:cNvPr>
          <p:cNvSpPr>
            <a:spLocks noGrp="1"/>
          </p:cNvSpPr>
          <p:nvPr>
            <p:ph idx="1"/>
          </p:nvPr>
        </p:nvSpPr>
        <p:spPr/>
        <p:txBody>
          <a:bodyPr>
            <a:normAutofit lnSpcReduction="10000"/>
          </a:bodyPr>
          <a:lstStyle/>
          <a:p>
            <a:r>
              <a:rPr lang="en-US" sz="2400" b="1" dirty="0"/>
              <a:t>An HTML element is defined by a start tag, some content, and an end tag</a:t>
            </a:r>
          </a:p>
          <a:p>
            <a:endParaRPr lang="en-US" sz="2400" b="1" dirty="0"/>
          </a:p>
          <a:p>
            <a:r>
              <a:rPr lang="en-US" sz="2400" b="1" dirty="0"/>
              <a:t>&lt;</a:t>
            </a:r>
            <a:r>
              <a:rPr lang="en-US" sz="2400" b="1" dirty="0" err="1"/>
              <a:t>tagname</a:t>
            </a:r>
            <a:r>
              <a:rPr lang="en-US" sz="2400" b="1" dirty="0"/>
              <a:t>&gt;Content goes here...&lt;/</a:t>
            </a:r>
            <a:r>
              <a:rPr lang="en-US" sz="2400" b="1" dirty="0" err="1"/>
              <a:t>tagname</a:t>
            </a:r>
            <a:r>
              <a:rPr lang="en-US" sz="2400" b="1" dirty="0"/>
              <a:t>&gt; </a:t>
            </a:r>
          </a:p>
          <a:p>
            <a:r>
              <a:rPr lang="en-US" sz="2400" b="1" dirty="0"/>
              <a:t>The HTML element is everything from the start tag to the end tag:</a:t>
            </a:r>
          </a:p>
          <a:p>
            <a:r>
              <a:rPr lang="en-US" sz="2400" b="1" dirty="0"/>
              <a:t>&lt;h1&gt;My First Heading&lt;/h1&gt; </a:t>
            </a:r>
          </a:p>
          <a:p>
            <a:r>
              <a:rPr lang="en-US" sz="2400" b="1" dirty="0"/>
              <a:t>&lt;p&gt;My first paragraph.&lt;/p&gt; </a:t>
            </a:r>
          </a:p>
          <a:p>
            <a:r>
              <a:rPr lang="en-US" sz="2400" b="1" dirty="0"/>
              <a:t>Note:</a:t>
            </a:r>
            <a:r>
              <a:rPr lang="en-US" sz="2400" dirty="0"/>
              <a:t> </a:t>
            </a:r>
            <a:r>
              <a:rPr lang="en-US" sz="2400" b="1" dirty="0">
                <a:solidFill>
                  <a:srgbClr val="00B0F0"/>
                </a:solidFill>
              </a:rPr>
              <a:t>Some HTML elements have no content (like the &lt;</a:t>
            </a:r>
            <a:r>
              <a:rPr lang="en-US" sz="2400" b="1" dirty="0" err="1">
                <a:solidFill>
                  <a:srgbClr val="00B0F0"/>
                </a:solidFill>
              </a:rPr>
              <a:t>br</a:t>
            </a:r>
            <a:r>
              <a:rPr lang="en-US" sz="2400" b="1" dirty="0">
                <a:solidFill>
                  <a:srgbClr val="00B0F0"/>
                </a:solidFill>
              </a:rPr>
              <a:t>&gt; element). These elements are called empty elements. Empty elements do not have an end tag!</a:t>
            </a:r>
          </a:p>
          <a:p>
            <a:endParaRPr lang="en-IN" dirty="0"/>
          </a:p>
        </p:txBody>
      </p:sp>
    </p:spTree>
    <p:extLst>
      <p:ext uri="{BB962C8B-B14F-4D97-AF65-F5344CB8AC3E}">
        <p14:creationId xmlns:p14="http://schemas.microsoft.com/office/powerpoint/2010/main" val="428666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5A5A-2E1A-457B-892C-D705139A5A61}"/>
              </a:ext>
            </a:extLst>
          </p:cNvPr>
          <p:cNvSpPr>
            <a:spLocks noGrp="1"/>
          </p:cNvSpPr>
          <p:nvPr>
            <p:ph type="title"/>
          </p:nvPr>
        </p:nvSpPr>
        <p:spPr/>
        <p:txBody>
          <a:bodyPr/>
          <a:lstStyle/>
          <a:p>
            <a:r>
              <a:rPr lang="en-IN" dirty="0"/>
              <a:t>HTML PAGE STRUCTURE</a:t>
            </a:r>
          </a:p>
        </p:txBody>
      </p:sp>
      <p:pic>
        <p:nvPicPr>
          <p:cNvPr id="5" name="Content Placeholder 4">
            <a:extLst>
              <a:ext uri="{FF2B5EF4-FFF2-40B4-BE49-F238E27FC236}">
                <a16:creationId xmlns:a16="http://schemas.microsoft.com/office/drawing/2014/main" id="{50BA860A-E366-4D21-8F76-64E03263AB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0296" y="2031066"/>
            <a:ext cx="7764356" cy="4671095"/>
          </a:xfrm>
        </p:spPr>
      </p:pic>
    </p:spTree>
    <p:extLst>
      <p:ext uri="{BB962C8B-B14F-4D97-AF65-F5344CB8AC3E}">
        <p14:creationId xmlns:p14="http://schemas.microsoft.com/office/powerpoint/2010/main" val="3045776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6CC56-A3E8-42FB-B0C4-D2AF90838A69}"/>
              </a:ext>
            </a:extLst>
          </p:cNvPr>
          <p:cNvSpPr>
            <a:spLocks noGrp="1"/>
          </p:cNvSpPr>
          <p:nvPr>
            <p:ph type="title"/>
          </p:nvPr>
        </p:nvSpPr>
        <p:spPr/>
        <p:txBody>
          <a:bodyPr/>
          <a:lstStyle/>
          <a:p>
            <a:r>
              <a:rPr lang="en-IN" dirty="0"/>
              <a:t>HTML HISTORY</a:t>
            </a:r>
          </a:p>
        </p:txBody>
      </p:sp>
      <p:graphicFrame>
        <p:nvGraphicFramePr>
          <p:cNvPr id="4" name="Content Placeholder 3">
            <a:extLst>
              <a:ext uri="{FF2B5EF4-FFF2-40B4-BE49-F238E27FC236}">
                <a16:creationId xmlns:a16="http://schemas.microsoft.com/office/drawing/2014/main" id="{4269E8AE-CFF4-4251-A057-3AC5C9556CA0}"/>
              </a:ext>
            </a:extLst>
          </p:cNvPr>
          <p:cNvGraphicFramePr>
            <a:graphicFrameLocks noGrp="1"/>
          </p:cNvGraphicFramePr>
          <p:nvPr>
            <p:ph idx="1"/>
            <p:extLst>
              <p:ext uri="{D42A27DB-BD31-4B8C-83A1-F6EECF244321}">
                <p14:modId xmlns:p14="http://schemas.microsoft.com/office/powerpoint/2010/main" val="2662204805"/>
              </p:ext>
            </p:extLst>
          </p:nvPr>
        </p:nvGraphicFramePr>
        <p:xfrm>
          <a:off x="1888365" y="1957128"/>
          <a:ext cx="8415270" cy="4616696"/>
        </p:xfrm>
        <a:graphic>
          <a:graphicData uri="http://schemas.openxmlformats.org/drawingml/2006/table">
            <a:tbl>
              <a:tblPr/>
              <a:tblGrid>
                <a:gridCol w="4207635">
                  <a:extLst>
                    <a:ext uri="{9D8B030D-6E8A-4147-A177-3AD203B41FA5}">
                      <a16:colId xmlns:a16="http://schemas.microsoft.com/office/drawing/2014/main" val="2677822214"/>
                    </a:ext>
                  </a:extLst>
                </a:gridCol>
                <a:gridCol w="4207635">
                  <a:extLst>
                    <a:ext uri="{9D8B030D-6E8A-4147-A177-3AD203B41FA5}">
                      <a16:colId xmlns:a16="http://schemas.microsoft.com/office/drawing/2014/main" val="2148956740"/>
                    </a:ext>
                  </a:extLst>
                </a:gridCol>
              </a:tblGrid>
              <a:tr h="329764">
                <a:tc>
                  <a:txBody>
                    <a:bodyPr/>
                    <a:lstStyle/>
                    <a:p>
                      <a:r>
                        <a:rPr lang="en-IN" sz="1500" b="1"/>
                        <a:t>Year</a:t>
                      </a:r>
                    </a:p>
                  </a:txBody>
                  <a:tcPr marL="75123" marR="75123" marT="37561" marB="37561" anchor="ctr">
                    <a:lnL>
                      <a:noFill/>
                    </a:lnL>
                    <a:lnR>
                      <a:noFill/>
                    </a:lnR>
                    <a:lnT>
                      <a:noFill/>
                    </a:lnT>
                    <a:lnB>
                      <a:noFill/>
                    </a:lnB>
                  </a:tcPr>
                </a:tc>
                <a:tc>
                  <a:txBody>
                    <a:bodyPr/>
                    <a:lstStyle/>
                    <a:p>
                      <a:r>
                        <a:rPr lang="en-IN" sz="1500" b="1"/>
                        <a:t>Version</a:t>
                      </a:r>
                    </a:p>
                  </a:txBody>
                  <a:tcPr marL="75123" marR="75123" marT="37561" marB="37561" anchor="ctr">
                    <a:lnL>
                      <a:noFill/>
                    </a:lnL>
                    <a:lnR>
                      <a:noFill/>
                    </a:lnR>
                    <a:lnT>
                      <a:noFill/>
                    </a:lnT>
                    <a:lnB>
                      <a:noFill/>
                    </a:lnB>
                  </a:tcPr>
                </a:tc>
                <a:extLst>
                  <a:ext uri="{0D108BD9-81ED-4DB2-BD59-A6C34878D82A}">
                    <a16:rowId xmlns:a16="http://schemas.microsoft.com/office/drawing/2014/main" val="3854710454"/>
                  </a:ext>
                </a:extLst>
              </a:tr>
              <a:tr h="329764">
                <a:tc>
                  <a:txBody>
                    <a:bodyPr/>
                    <a:lstStyle/>
                    <a:p>
                      <a:r>
                        <a:rPr lang="en-IN" sz="1500" b="1"/>
                        <a:t>1989</a:t>
                      </a:r>
                    </a:p>
                  </a:txBody>
                  <a:tcPr marL="75123" marR="75123" marT="37561" marB="37561" anchor="ctr">
                    <a:lnL>
                      <a:noFill/>
                    </a:lnL>
                    <a:lnR>
                      <a:noFill/>
                    </a:lnR>
                    <a:lnT>
                      <a:noFill/>
                    </a:lnT>
                    <a:lnB>
                      <a:noFill/>
                    </a:lnB>
                  </a:tcPr>
                </a:tc>
                <a:tc>
                  <a:txBody>
                    <a:bodyPr/>
                    <a:lstStyle/>
                    <a:p>
                      <a:r>
                        <a:rPr lang="en-IN" sz="1500" b="1"/>
                        <a:t>Tim Berners-Lee invented www</a:t>
                      </a:r>
                    </a:p>
                  </a:txBody>
                  <a:tcPr marL="75123" marR="75123" marT="37561" marB="37561" anchor="ctr">
                    <a:lnL>
                      <a:noFill/>
                    </a:lnL>
                    <a:lnR>
                      <a:noFill/>
                    </a:lnR>
                    <a:lnT>
                      <a:noFill/>
                    </a:lnT>
                    <a:lnB>
                      <a:noFill/>
                    </a:lnB>
                  </a:tcPr>
                </a:tc>
                <a:extLst>
                  <a:ext uri="{0D108BD9-81ED-4DB2-BD59-A6C34878D82A}">
                    <a16:rowId xmlns:a16="http://schemas.microsoft.com/office/drawing/2014/main" val="562441716"/>
                  </a:ext>
                </a:extLst>
              </a:tr>
              <a:tr h="329764">
                <a:tc>
                  <a:txBody>
                    <a:bodyPr/>
                    <a:lstStyle/>
                    <a:p>
                      <a:r>
                        <a:rPr lang="en-IN" sz="1500" b="1"/>
                        <a:t>1991</a:t>
                      </a:r>
                    </a:p>
                  </a:txBody>
                  <a:tcPr marL="75123" marR="75123" marT="37561" marB="37561" anchor="ctr">
                    <a:lnL>
                      <a:noFill/>
                    </a:lnL>
                    <a:lnR>
                      <a:noFill/>
                    </a:lnR>
                    <a:lnT>
                      <a:noFill/>
                    </a:lnT>
                    <a:lnB>
                      <a:noFill/>
                    </a:lnB>
                  </a:tcPr>
                </a:tc>
                <a:tc>
                  <a:txBody>
                    <a:bodyPr/>
                    <a:lstStyle/>
                    <a:p>
                      <a:r>
                        <a:rPr lang="en-IN" sz="1500" b="1"/>
                        <a:t>Tim Berners-Lee invented HTML</a:t>
                      </a:r>
                    </a:p>
                  </a:txBody>
                  <a:tcPr marL="75123" marR="75123" marT="37561" marB="37561" anchor="ctr">
                    <a:lnL>
                      <a:noFill/>
                    </a:lnL>
                    <a:lnR>
                      <a:noFill/>
                    </a:lnR>
                    <a:lnT>
                      <a:noFill/>
                    </a:lnT>
                    <a:lnB>
                      <a:noFill/>
                    </a:lnB>
                  </a:tcPr>
                </a:tc>
                <a:extLst>
                  <a:ext uri="{0D108BD9-81ED-4DB2-BD59-A6C34878D82A}">
                    <a16:rowId xmlns:a16="http://schemas.microsoft.com/office/drawing/2014/main" val="397702994"/>
                  </a:ext>
                </a:extLst>
              </a:tr>
              <a:tr h="329764">
                <a:tc>
                  <a:txBody>
                    <a:bodyPr/>
                    <a:lstStyle/>
                    <a:p>
                      <a:r>
                        <a:rPr lang="en-IN" sz="1500" b="1"/>
                        <a:t>1993</a:t>
                      </a:r>
                    </a:p>
                  </a:txBody>
                  <a:tcPr marL="75123" marR="75123" marT="37561" marB="37561" anchor="ctr">
                    <a:lnL>
                      <a:noFill/>
                    </a:lnL>
                    <a:lnR>
                      <a:noFill/>
                    </a:lnR>
                    <a:lnT>
                      <a:noFill/>
                    </a:lnT>
                    <a:lnB>
                      <a:noFill/>
                    </a:lnB>
                  </a:tcPr>
                </a:tc>
                <a:tc>
                  <a:txBody>
                    <a:bodyPr/>
                    <a:lstStyle/>
                    <a:p>
                      <a:r>
                        <a:rPr lang="en-IN" sz="1500" b="1"/>
                        <a:t>Dave Raggett drafted HTML+</a:t>
                      </a:r>
                    </a:p>
                  </a:txBody>
                  <a:tcPr marL="75123" marR="75123" marT="37561" marB="37561" anchor="ctr">
                    <a:lnL>
                      <a:noFill/>
                    </a:lnL>
                    <a:lnR>
                      <a:noFill/>
                    </a:lnR>
                    <a:lnT>
                      <a:noFill/>
                    </a:lnT>
                    <a:lnB>
                      <a:noFill/>
                    </a:lnB>
                  </a:tcPr>
                </a:tc>
                <a:extLst>
                  <a:ext uri="{0D108BD9-81ED-4DB2-BD59-A6C34878D82A}">
                    <a16:rowId xmlns:a16="http://schemas.microsoft.com/office/drawing/2014/main" val="2537651099"/>
                  </a:ext>
                </a:extLst>
              </a:tr>
              <a:tr h="329764">
                <a:tc>
                  <a:txBody>
                    <a:bodyPr/>
                    <a:lstStyle/>
                    <a:p>
                      <a:r>
                        <a:rPr lang="en-IN" sz="1500" b="1" dirty="0"/>
                        <a:t>1995</a:t>
                      </a:r>
                    </a:p>
                  </a:txBody>
                  <a:tcPr marL="75123" marR="75123" marT="37561" marB="37561" anchor="ctr">
                    <a:lnL>
                      <a:noFill/>
                    </a:lnL>
                    <a:lnR>
                      <a:noFill/>
                    </a:lnR>
                    <a:lnT>
                      <a:noFill/>
                    </a:lnT>
                    <a:lnB>
                      <a:noFill/>
                    </a:lnB>
                  </a:tcPr>
                </a:tc>
                <a:tc>
                  <a:txBody>
                    <a:bodyPr/>
                    <a:lstStyle/>
                    <a:p>
                      <a:r>
                        <a:rPr lang="en-US" sz="1500" b="1"/>
                        <a:t>HTML Working Group defined HTML 2.0</a:t>
                      </a:r>
                    </a:p>
                  </a:txBody>
                  <a:tcPr marL="75123" marR="75123" marT="37561" marB="37561" anchor="ctr">
                    <a:lnL>
                      <a:noFill/>
                    </a:lnL>
                    <a:lnR>
                      <a:noFill/>
                    </a:lnR>
                    <a:lnT>
                      <a:noFill/>
                    </a:lnT>
                    <a:lnB>
                      <a:noFill/>
                    </a:lnB>
                  </a:tcPr>
                </a:tc>
                <a:extLst>
                  <a:ext uri="{0D108BD9-81ED-4DB2-BD59-A6C34878D82A}">
                    <a16:rowId xmlns:a16="http://schemas.microsoft.com/office/drawing/2014/main" val="2302265566"/>
                  </a:ext>
                </a:extLst>
              </a:tr>
              <a:tr h="329764">
                <a:tc>
                  <a:txBody>
                    <a:bodyPr/>
                    <a:lstStyle/>
                    <a:p>
                      <a:r>
                        <a:rPr lang="en-IN" sz="1500" b="1"/>
                        <a:t>1997</a:t>
                      </a:r>
                    </a:p>
                  </a:txBody>
                  <a:tcPr marL="75123" marR="75123" marT="37561" marB="37561" anchor="ctr">
                    <a:lnL>
                      <a:noFill/>
                    </a:lnL>
                    <a:lnR>
                      <a:noFill/>
                    </a:lnR>
                    <a:lnT>
                      <a:noFill/>
                    </a:lnT>
                    <a:lnB>
                      <a:noFill/>
                    </a:lnB>
                  </a:tcPr>
                </a:tc>
                <a:tc>
                  <a:txBody>
                    <a:bodyPr/>
                    <a:lstStyle/>
                    <a:p>
                      <a:r>
                        <a:rPr lang="en-IN" sz="1500" b="1"/>
                        <a:t>W3C Recommendation: HTML 3.2</a:t>
                      </a:r>
                    </a:p>
                  </a:txBody>
                  <a:tcPr marL="75123" marR="75123" marT="37561" marB="37561" anchor="ctr">
                    <a:lnL>
                      <a:noFill/>
                    </a:lnL>
                    <a:lnR>
                      <a:noFill/>
                    </a:lnR>
                    <a:lnT>
                      <a:noFill/>
                    </a:lnT>
                    <a:lnB>
                      <a:noFill/>
                    </a:lnB>
                  </a:tcPr>
                </a:tc>
                <a:extLst>
                  <a:ext uri="{0D108BD9-81ED-4DB2-BD59-A6C34878D82A}">
                    <a16:rowId xmlns:a16="http://schemas.microsoft.com/office/drawing/2014/main" val="2647713350"/>
                  </a:ext>
                </a:extLst>
              </a:tr>
              <a:tr h="329764">
                <a:tc>
                  <a:txBody>
                    <a:bodyPr/>
                    <a:lstStyle/>
                    <a:p>
                      <a:r>
                        <a:rPr lang="en-IN" sz="1500" b="1"/>
                        <a:t>1999</a:t>
                      </a:r>
                    </a:p>
                  </a:txBody>
                  <a:tcPr marL="75123" marR="75123" marT="37561" marB="37561" anchor="ctr">
                    <a:lnL>
                      <a:noFill/>
                    </a:lnL>
                    <a:lnR>
                      <a:noFill/>
                    </a:lnR>
                    <a:lnT>
                      <a:noFill/>
                    </a:lnT>
                    <a:lnB>
                      <a:noFill/>
                    </a:lnB>
                  </a:tcPr>
                </a:tc>
                <a:tc>
                  <a:txBody>
                    <a:bodyPr/>
                    <a:lstStyle/>
                    <a:p>
                      <a:r>
                        <a:rPr lang="en-IN" sz="1500" b="1"/>
                        <a:t>W3C Recommendation: HTML 4.01</a:t>
                      </a:r>
                    </a:p>
                  </a:txBody>
                  <a:tcPr marL="75123" marR="75123" marT="37561" marB="37561" anchor="ctr">
                    <a:lnL>
                      <a:noFill/>
                    </a:lnL>
                    <a:lnR>
                      <a:noFill/>
                    </a:lnR>
                    <a:lnT>
                      <a:noFill/>
                    </a:lnT>
                    <a:lnB>
                      <a:noFill/>
                    </a:lnB>
                  </a:tcPr>
                </a:tc>
                <a:extLst>
                  <a:ext uri="{0D108BD9-81ED-4DB2-BD59-A6C34878D82A}">
                    <a16:rowId xmlns:a16="http://schemas.microsoft.com/office/drawing/2014/main" val="3208605872"/>
                  </a:ext>
                </a:extLst>
              </a:tr>
              <a:tr h="329764">
                <a:tc>
                  <a:txBody>
                    <a:bodyPr/>
                    <a:lstStyle/>
                    <a:p>
                      <a:r>
                        <a:rPr lang="en-IN" sz="1500" b="1"/>
                        <a:t>2000</a:t>
                      </a:r>
                    </a:p>
                  </a:txBody>
                  <a:tcPr marL="75123" marR="75123" marT="37561" marB="37561" anchor="ctr">
                    <a:lnL>
                      <a:noFill/>
                    </a:lnL>
                    <a:lnR>
                      <a:noFill/>
                    </a:lnR>
                    <a:lnT>
                      <a:noFill/>
                    </a:lnT>
                    <a:lnB>
                      <a:noFill/>
                    </a:lnB>
                  </a:tcPr>
                </a:tc>
                <a:tc>
                  <a:txBody>
                    <a:bodyPr/>
                    <a:lstStyle/>
                    <a:p>
                      <a:r>
                        <a:rPr lang="en-IN" sz="1500" b="1"/>
                        <a:t>W3C Recommendation: XHTML 1.0</a:t>
                      </a:r>
                    </a:p>
                  </a:txBody>
                  <a:tcPr marL="75123" marR="75123" marT="37561" marB="37561" anchor="ctr">
                    <a:lnL>
                      <a:noFill/>
                    </a:lnL>
                    <a:lnR>
                      <a:noFill/>
                    </a:lnR>
                    <a:lnT>
                      <a:noFill/>
                    </a:lnT>
                    <a:lnB>
                      <a:noFill/>
                    </a:lnB>
                  </a:tcPr>
                </a:tc>
                <a:extLst>
                  <a:ext uri="{0D108BD9-81ED-4DB2-BD59-A6C34878D82A}">
                    <a16:rowId xmlns:a16="http://schemas.microsoft.com/office/drawing/2014/main" val="3043041780"/>
                  </a:ext>
                </a:extLst>
              </a:tr>
              <a:tr h="329764">
                <a:tc>
                  <a:txBody>
                    <a:bodyPr/>
                    <a:lstStyle/>
                    <a:p>
                      <a:r>
                        <a:rPr lang="en-IN" sz="1500" b="1"/>
                        <a:t>2008</a:t>
                      </a:r>
                    </a:p>
                  </a:txBody>
                  <a:tcPr marL="75123" marR="75123" marT="37561" marB="37561" anchor="ctr">
                    <a:lnL>
                      <a:noFill/>
                    </a:lnL>
                    <a:lnR>
                      <a:noFill/>
                    </a:lnR>
                    <a:lnT>
                      <a:noFill/>
                    </a:lnT>
                    <a:lnB>
                      <a:noFill/>
                    </a:lnB>
                  </a:tcPr>
                </a:tc>
                <a:tc>
                  <a:txBody>
                    <a:bodyPr/>
                    <a:lstStyle/>
                    <a:p>
                      <a:r>
                        <a:rPr lang="en-US" sz="1500" b="1"/>
                        <a:t>WHATWG HTML5 First Public Draft</a:t>
                      </a:r>
                    </a:p>
                  </a:txBody>
                  <a:tcPr marL="75123" marR="75123" marT="37561" marB="37561" anchor="ctr">
                    <a:lnL>
                      <a:noFill/>
                    </a:lnL>
                    <a:lnR>
                      <a:noFill/>
                    </a:lnR>
                    <a:lnT>
                      <a:noFill/>
                    </a:lnT>
                    <a:lnB>
                      <a:noFill/>
                    </a:lnB>
                  </a:tcPr>
                </a:tc>
                <a:extLst>
                  <a:ext uri="{0D108BD9-81ED-4DB2-BD59-A6C34878D82A}">
                    <a16:rowId xmlns:a16="http://schemas.microsoft.com/office/drawing/2014/main" val="2763492490"/>
                  </a:ext>
                </a:extLst>
              </a:tr>
              <a:tr h="329764">
                <a:tc>
                  <a:txBody>
                    <a:bodyPr/>
                    <a:lstStyle/>
                    <a:p>
                      <a:r>
                        <a:rPr lang="en-IN" sz="1500" b="1"/>
                        <a:t>2012</a:t>
                      </a:r>
                    </a:p>
                  </a:txBody>
                  <a:tcPr marL="75123" marR="75123" marT="37561" marB="37561" anchor="ctr">
                    <a:lnL>
                      <a:noFill/>
                    </a:lnL>
                    <a:lnR>
                      <a:noFill/>
                    </a:lnR>
                    <a:lnT>
                      <a:noFill/>
                    </a:lnT>
                    <a:lnB>
                      <a:noFill/>
                    </a:lnB>
                  </a:tcPr>
                </a:tc>
                <a:tc>
                  <a:txBody>
                    <a:bodyPr/>
                    <a:lstStyle/>
                    <a:p>
                      <a:r>
                        <a:rPr lang="en-IN" sz="1500" b="1">
                          <a:hlinkClick r:id="rId2"/>
                        </a:rPr>
                        <a:t>WHATWG HTML5 Living Standard</a:t>
                      </a:r>
                      <a:endParaRPr lang="en-IN" sz="1500" b="1"/>
                    </a:p>
                  </a:txBody>
                  <a:tcPr marL="75123" marR="75123" marT="37561" marB="37561" anchor="ctr">
                    <a:lnL>
                      <a:noFill/>
                    </a:lnL>
                    <a:lnR>
                      <a:noFill/>
                    </a:lnR>
                    <a:lnT>
                      <a:noFill/>
                    </a:lnT>
                    <a:lnB>
                      <a:noFill/>
                    </a:lnB>
                  </a:tcPr>
                </a:tc>
                <a:extLst>
                  <a:ext uri="{0D108BD9-81ED-4DB2-BD59-A6C34878D82A}">
                    <a16:rowId xmlns:a16="http://schemas.microsoft.com/office/drawing/2014/main" val="220735240"/>
                  </a:ext>
                </a:extLst>
              </a:tr>
              <a:tr h="329764">
                <a:tc>
                  <a:txBody>
                    <a:bodyPr/>
                    <a:lstStyle/>
                    <a:p>
                      <a:r>
                        <a:rPr lang="en-IN" sz="1500" b="1"/>
                        <a:t>2014</a:t>
                      </a:r>
                    </a:p>
                  </a:txBody>
                  <a:tcPr marL="75123" marR="75123" marT="37561" marB="37561" anchor="ctr">
                    <a:lnL>
                      <a:noFill/>
                    </a:lnL>
                    <a:lnR>
                      <a:noFill/>
                    </a:lnR>
                    <a:lnT>
                      <a:noFill/>
                    </a:lnT>
                    <a:lnB>
                      <a:noFill/>
                    </a:lnB>
                  </a:tcPr>
                </a:tc>
                <a:tc>
                  <a:txBody>
                    <a:bodyPr/>
                    <a:lstStyle/>
                    <a:p>
                      <a:r>
                        <a:rPr lang="en-IN" sz="1500" b="1">
                          <a:hlinkClick r:id="rId3"/>
                        </a:rPr>
                        <a:t>W3C Recommendation: HTML5</a:t>
                      </a:r>
                      <a:endParaRPr lang="en-IN" sz="1500" b="1"/>
                    </a:p>
                  </a:txBody>
                  <a:tcPr marL="75123" marR="75123" marT="37561" marB="37561" anchor="ctr">
                    <a:lnL>
                      <a:noFill/>
                    </a:lnL>
                    <a:lnR>
                      <a:noFill/>
                    </a:lnR>
                    <a:lnT>
                      <a:noFill/>
                    </a:lnT>
                    <a:lnB>
                      <a:noFill/>
                    </a:lnB>
                  </a:tcPr>
                </a:tc>
                <a:extLst>
                  <a:ext uri="{0D108BD9-81ED-4DB2-BD59-A6C34878D82A}">
                    <a16:rowId xmlns:a16="http://schemas.microsoft.com/office/drawing/2014/main" val="3160098551"/>
                  </a:ext>
                </a:extLst>
              </a:tr>
              <a:tr h="329764">
                <a:tc>
                  <a:txBody>
                    <a:bodyPr/>
                    <a:lstStyle/>
                    <a:p>
                      <a:r>
                        <a:rPr lang="en-IN" sz="1500" b="1"/>
                        <a:t>2016</a:t>
                      </a:r>
                    </a:p>
                  </a:txBody>
                  <a:tcPr marL="75123" marR="75123" marT="37561" marB="37561" anchor="ctr">
                    <a:lnL>
                      <a:noFill/>
                    </a:lnL>
                    <a:lnR>
                      <a:noFill/>
                    </a:lnR>
                    <a:lnT>
                      <a:noFill/>
                    </a:lnT>
                    <a:lnB>
                      <a:noFill/>
                    </a:lnB>
                  </a:tcPr>
                </a:tc>
                <a:tc>
                  <a:txBody>
                    <a:bodyPr/>
                    <a:lstStyle/>
                    <a:p>
                      <a:r>
                        <a:rPr lang="en-IN" sz="1500" b="1"/>
                        <a:t>W3C Candidate Recommendation: HTML 5.1</a:t>
                      </a:r>
                    </a:p>
                  </a:txBody>
                  <a:tcPr marL="75123" marR="75123" marT="37561" marB="37561" anchor="ctr">
                    <a:lnL>
                      <a:noFill/>
                    </a:lnL>
                    <a:lnR>
                      <a:noFill/>
                    </a:lnR>
                    <a:lnT>
                      <a:noFill/>
                    </a:lnT>
                    <a:lnB>
                      <a:noFill/>
                    </a:lnB>
                  </a:tcPr>
                </a:tc>
                <a:extLst>
                  <a:ext uri="{0D108BD9-81ED-4DB2-BD59-A6C34878D82A}">
                    <a16:rowId xmlns:a16="http://schemas.microsoft.com/office/drawing/2014/main" val="2130941456"/>
                  </a:ext>
                </a:extLst>
              </a:tr>
              <a:tr h="329764">
                <a:tc>
                  <a:txBody>
                    <a:bodyPr/>
                    <a:lstStyle/>
                    <a:p>
                      <a:r>
                        <a:rPr lang="en-IN" sz="1500" b="1"/>
                        <a:t>2017</a:t>
                      </a:r>
                    </a:p>
                  </a:txBody>
                  <a:tcPr marL="75123" marR="75123" marT="37561" marB="37561" anchor="ctr">
                    <a:lnL>
                      <a:noFill/>
                    </a:lnL>
                    <a:lnR>
                      <a:noFill/>
                    </a:lnR>
                    <a:lnT>
                      <a:noFill/>
                    </a:lnT>
                    <a:lnB>
                      <a:noFill/>
                    </a:lnB>
                  </a:tcPr>
                </a:tc>
                <a:tc>
                  <a:txBody>
                    <a:bodyPr/>
                    <a:lstStyle/>
                    <a:p>
                      <a:r>
                        <a:rPr lang="en-IN" sz="1500" b="1">
                          <a:hlinkClick r:id="rId4"/>
                        </a:rPr>
                        <a:t>W3C Recommendation: HTML5.1 2nd Edition</a:t>
                      </a:r>
                      <a:endParaRPr lang="en-IN" sz="1500" b="1"/>
                    </a:p>
                  </a:txBody>
                  <a:tcPr marL="75123" marR="75123" marT="37561" marB="37561" anchor="ctr">
                    <a:lnL>
                      <a:noFill/>
                    </a:lnL>
                    <a:lnR>
                      <a:noFill/>
                    </a:lnR>
                    <a:lnT>
                      <a:noFill/>
                    </a:lnT>
                    <a:lnB>
                      <a:noFill/>
                    </a:lnB>
                  </a:tcPr>
                </a:tc>
                <a:extLst>
                  <a:ext uri="{0D108BD9-81ED-4DB2-BD59-A6C34878D82A}">
                    <a16:rowId xmlns:a16="http://schemas.microsoft.com/office/drawing/2014/main" val="1357185473"/>
                  </a:ext>
                </a:extLst>
              </a:tr>
              <a:tr h="329764">
                <a:tc>
                  <a:txBody>
                    <a:bodyPr/>
                    <a:lstStyle/>
                    <a:p>
                      <a:r>
                        <a:rPr lang="en-IN" sz="1500" b="1"/>
                        <a:t>2017</a:t>
                      </a:r>
                    </a:p>
                  </a:txBody>
                  <a:tcPr marL="75123" marR="75123" marT="37561" marB="37561" anchor="ctr">
                    <a:lnL>
                      <a:noFill/>
                    </a:lnL>
                    <a:lnR>
                      <a:noFill/>
                    </a:lnR>
                    <a:lnT>
                      <a:noFill/>
                    </a:lnT>
                    <a:lnB>
                      <a:noFill/>
                    </a:lnB>
                  </a:tcPr>
                </a:tc>
                <a:tc>
                  <a:txBody>
                    <a:bodyPr/>
                    <a:lstStyle/>
                    <a:p>
                      <a:r>
                        <a:rPr lang="en-IN" sz="1500" b="1" dirty="0">
                          <a:hlinkClick r:id="rId5"/>
                        </a:rPr>
                        <a:t>W3C Recommendation: HTML5.2</a:t>
                      </a:r>
                      <a:endParaRPr lang="en-IN" sz="1500" b="1" dirty="0"/>
                    </a:p>
                  </a:txBody>
                  <a:tcPr marL="75123" marR="75123" marT="37561" marB="37561" anchor="ctr">
                    <a:lnL>
                      <a:noFill/>
                    </a:lnL>
                    <a:lnR>
                      <a:noFill/>
                    </a:lnR>
                    <a:lnT>
                      <a:noFill/>
                    </a:lnT>
                    <a:lnB>
                      <a:noFill/>
                    </a:lnB>
                  </a:tcPr>
                </a:tc>
                <a:extLst>
                  <a:ext uri="{0D108BD9-81ED-4DB2-BD59-A6C34878D82A}">
                    <a16:rowId xmlns:a16="http://schemas.microsoft.com/office/drawing/2014/main" val="3233576644"/>
                  </a:ext>
                </a:extLst>
              </a:tr>
            </a:tbl>
          </a:graphicData>
        </a:graphic>
      </p:graphicFrame>
    </p:spTree>
    <p:extLst>
      <p:ext uri="{BB962C8B-B14F-4D97-AF65-F5344CB8AC3E}">
        <p14:creationId xmlns:p14="http://schemas.microsoft.com/office/powerpoint/2010/main" val="221220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A00C9-AF79-4C1B-81C0-3BA53C2D2C39}"/>
              </a:ext>
            </a:extLst>
          </p:cNvPr>
          <p:cNvSpPr>
            <a:spLocks noGrp="1"/>
          </p:cNvSpPr>
          <p:nvPr>
            <p:ph type="title"/>
          </p:nvPr>
        </p:nvSpPr>
        <p:spPr/>
        <p:txBody>
          <a:bodyPr/>
          <a:lstStyle/>
          <a:p>
            <a:r>
              <a:rPr lang="en-IN" dirty="0"/>
              <a:t>HTML DOCUMENTS</a:t>
            </a:r>
          </a:p>
        </p:txBody>
      </p:sp>
      <p:sp>
        <p:nvSpPr>
          <p:cNvPr id="4" name="Rectangle 1">
            <a:extLst>
              <a:ext uri="{FF2B5EF4-FFF2-40B4-BE49-F238E27FC236}">
                <a16:creationId xmlns:a16="http://schemas.microsoft.com/office/drawing/2014/main" id="{44EFCBD6-5D11-4C77-B527-E86C75CE4B48}"/>
              </a:ext>
            </a:extLst>
          </p:cNvPr>
          <p:cNvSpPr>
            <a:spLocks noGrp="1" noChangeArrowheads="1"/>
          </p:cNvSpPr>
          <p:nvPr>
            <p:ph idx="1"/>
          </p:nvPr>
        </p:nvSpPr>
        <p:spPr bwMode="auto">
          <a:xfrm>
            <a:off x="0" y="3094565"/>
            <a:ext cx="1241551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All HTML documents must start with a document type declaration: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B0F0"/>
                </a:solidFill>
                <a:effectLst/>
                <a:latin typeface="Arial Unicode MS"/>
              </a:rPr>
              <a:t>&lt;!DOCTYPE html&gt;</a:t>
            </a:r>
            <a:r>
              <a:rPr kumimoji="0" lang="en-US" altLang="en-US" sz="2800" b="1" i="0" u="none" strike="noStrike" cap="none" normalizeH="0" baseline="0" dirty="0">
                <a:ln>
                  <a:noFill/>
                </a:ln>
                <a:solidFill>
                  <a:srgbClr val="00B0F0"/>
                </a:solidFill>
                <a:effectLst/>
              </a:rPr>
              <a:t>.</a:t>
            </a:r>
            <a:endParaRPr kumimoji="0" lang="en-US" altLang="en-US" sz="2800" b="1" i="0" u="none" strike="noStrike" cap="none" normalizeH="0" baseline="0" dirty="0">
              <a:ln>
                <a:noFill/>
              </a:ln>
              <a:solidFill>
                <a:srgbClr val="00B0F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The HTML document itself begins with </a:t>
            </a:r>
            <a:r>
              <a:rPr kumimoji="0" lang="en-US" altLang="en-US" sz="2800" b="1" i="0" u="none" strike="noStrike" cap="none" normalizeH="0" baseline="0" dirty="0">
                <a:ln>
                  <a:noFill/>
                </a:ln>
                <a:solidFill>
                  <a:srgbClr val="00B0F0"/>
                </a:solidFill>
                <a:effectLst/>
                <a:latin typeface="Arial Unicode MS"/>
              </a:rPr>
              <a:t>&lt;html&gt;</a:t>
            </a:r>
            <a:r>
              <a:rPr kumimoji="0" lang="en-US" altLang="en-US" sz="2800" b="1" i="0" u="none" strike="noStrike" cap="none" normalizeH="0" baseline="0" dirty="0">
                <a:ln>
                  <a:noFill/>
                </a:ln>
                <a:solidFill>
                  <a:srgbClr val="00B0F0"/>
                </a:solidFill>
                <a:effectLst/>
              </a:rPr>
              <a:t> </a:t>
            </a:r>
            <a:r>
              <a:rPr kumimoji="0" lang="en-US" altLang="en-US" sz="2800" b="1" i="0" u="none" strike="noStrike" cap="none" normalizeH="0" baseline="0" dirty="0">
                <a:ln>
                  <a:noFill/>
                </a:ln>
                <a:solidFill>
                  <a:schemeClr val="tx1"/>
                </a:solidFill>
                <a:effectLst/>
              </a:rPr>
              <a:t>and ends with </a:t>
            </a:r>
            <a:r>
              <a:rPr kumimoji="0" lang="en-US" altLang="en-US" sz="2800" b="1" i="0" u="none" strike="noStrike" cap="none" normalizeH="0" baseline="0" dirty="0">
                <a:ln>
                  <a:noFill/>
                </a:ln>
                <a:solidFill>
                  <a:srgbClr val="00B0F0"/>
                </a:solidFill>
                <a:effectLst/>
                <a:latin typeface="Arial Unicode MS"/>
              </a:rPr>
              <a:t>&lt;/html&gt;</a:t>
            </a:r>
            <a:r>
              <a:rPr kumimoji="0" lang="en-US" altLang="en-US" sz="2800" b="1" i="0" u="none" strike="noStrike" cap="none" normalizeH="0" baseline="0" dirty="0">
                <a:ln>
                  <a:noFill/>
                </a:ln>
                <a:solidFill>
                  <a:srgbClr val="00B0F0"/>
                </a:solidFill>
                <a:effectLst/>
              </a:rPr>
              <a:t>.</a:t>
            </a:r>
            <a:endParaRPr kumimoji="0" lang="en-US" altLang="en-US" sz="2800" b="1" i="0" u="none" strike="noStrike" cap="none" normalizeH="0" baseline="0" dirty="0">
              <a:ln>
                <a:noFill/>
              </a:ln>
              <a:solidFill>
                <a:srgbClr val="00B0F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The visible part of the HTML document is between </a:t>
            </a:r>
            <a:r>
              <a:rPr kumimoji="0" lang="en-US" altLang="en-US" sz="2800" b="1" i="0" u="none" strike="noStrike" cap="none" normalizeH="0" baseline="0" dirty="0">
                <a:ln>
                  <a:noFill/>
                </a:ln>
                <a:solidFill>
                  <a:srgbClr val="00B0F0"/>
                </a:solidFill>
                <a:effectLst/>
                <a:latin typeface="Arial Unicode MS"/>
              </a:rPr>
              <a:t>&lt;body&gt;</a:t>
            </a:r>
            <a:r>
              <a:rPr kumimoji="0" lang="en-US" altLang="en-US" sz="2800" b="1" i="0" u="none" strike="noStrike" cap="none" normalizeH="0" baseline="0" dirty="0">
                <a:ln>
                  <a:noFill/>
                </a:ln>
                <a:solidFill>
                  <a:srgbClr val="00B0F0"/>
                </a:solidFill>
                <a:effectLst/>
              </a:rPr>
              <a:t> </a:t>
            </a:r>
            <a:r>
              <a:rPr kumimoji="0" lang="en-US" altLang="en-US" sz="2800" b="1" i="0" u="none" strike="noStrike" cap="none" normalizeH="0" baseline="0" dirty="0">
                <a:ln>
                  <a:noFill/>
                </a:ln>
                <a:solidFill>
                  <a:schemeClr val="tx1"/>
                </a:solidFill>
                <a:effectLst/>
              </a:rPr>
              <a:t>and </a:t>
            </a:r>
            <a:r>
              <a:rPr kumimoji="0" lang="en-US" altLang="en-US" sz="2800" b="1" i="0" u="none" strike="noStrike" cap="none" normalizeH="0" baseline="0" dirty="0">
                <a:ln>
                  <a:noFill/>
                </a:ln>
                <a:solidFill>
                  <a:srgbClr val="00B0F0"/>
                </a:solidFill>
                <a:effectLst/>
                <a:latin typeface="Arial Unicode MS"/>
              </a:rPr>
              <a:t>&lt;/body&gt;</a:t>
            </a:r>
            <a:r>
              <a:rPr kumimoji="0" lang="en-US" altLang="en-US" sz="2800" b="1" i="0" u="none" strike="noStrike" cap="none" normalizeH="0" baseline="0" dirty="0">
                <a:ln>
                  <a:noFill/>
                </a:ln>
                <a:solidFill>
                  <a:srgbClr val="00B0F0"/>
                </a:solidFill>
                <a:effectLst/>
              </a:rPr>
              <a:t>. </a:t>
            </a:r>
            <a:endParaRPr kumimoji="0" lang="en-US" altLang="en-US" sz="2800" b="1" i="0" u="none" strike="noStrike" cap="none" normalizeH="0" baseline="0" dirty="0">
              <a:ln>
                <a:noFill/>
              </a:ln>
              <a:solidFill>
                <a:srgbClr val="00B0F0"/>
              </a:solidFill>
              <a:effectLst/>
              <a:latin typeface="Arial" panose="020B0604020202020204" pitchFamily="34" charset="0"/>
            </a:endParaRPr>
          </a:p>
        </p:txBody>
      </p:sp>
    </p:spTree>
    <p:extLst>
      <p:ext uri="{BB962C8B-B14F-4D97-AF65-F5344CB8AC3E}">
        <p14:creationId xmlns:p14="http://schemas.microsoft.com/office/powerpoint/2010/main" val="4144710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4A02-5391-40ED-916F-454A27C05603}"/>
              </a:ext>
            </a:extLst>
          </p:cNvPr>
          <p:cNvSpPr>
            <a:spLocks noGrp="1"/>
          </p:cNvSpPr>
          <p:nvPr>
            <p:ph type="title"/>
          </p:nvPr>
        </p:nvSpPr>
        <p:spPr/>
        <p:txBody>
          <a:bodyPr/>
          <a:lstStyle/>
          <a:p>
            <a:r>
              <a:rPr lang="en-IN" dirty="0"/>
              <a:t>THE &lt;!DOCTYPE&gt; DECLARATION</a:t>
            </a:r>
          </a:p>
        </p:txBody>
      </p:sp>
      <p:sp>
        <p:nvSpPr>
          <p:cNvPr id="4" name="Rectangle 1">
            <a:extLst>
              <a:ext uri="{FF2B5EF4-FFF2-40B4-BE49-F238E27FC236}">
                <a16:creationId xmlns:a16="http://schemas.microsoft.com/office/drawing/2014/main" id="{8239371E-79F3-4BC1-A875-988135EAEECE}"/>
              </a:ext>
            </a:extLst>
          </p:cNvPr>
          <p:cNvSpPr>
            <a:spLocks noGrp="1" noChangeArrowheads="1"/>
          </p:cNvSpPr>
          <p:nvPr>
            <p:ph idx="1"/>
          </p:nvPr>
        </p:nvSpPr>
        <p:spPr bwMode="auto">
          <a:xfrm>
            <a:off x="128336" y="1246600"/>
            <a:ext cx="1159644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The </a:t>
            </a:r>
            <a:r>
              <a:rPr kumimoji="0" lang="en-US" altLang="en-US" sz="3600" b="1" i="0" u="none" strike="noStrike" cap="none" normalizeH="0" baseline="0" dirty="0">
                <a:ln>
                  <a:noFill/>
                </a:ln>
                <a:solidFill>
                  <a:srgbClr val="00B0F0"/>
                </a:solidFill>
                <a:effectLst/>
                <a:latin typeface="Arial Unicode MS"/>
              </a:rPr>
              <a:t>&lt;!DOCTYPE&gt;</a:t>
            </a:r>
            <a:r>
              <a:rPr kumimoji="0" lang="en-US" altLang="en-US" sz="3600" b="1" i="0" u="none" strike="noStrike" cap="none" normalizeH="0" baseline="0" dirty="0">
                <a:ln>
                  <a:noFill/>
                </a:ln>
                <a:solidFill>
                  <a:srgbClr val="00B0F0"/>
                </a:solidFill>
                <a:effectLst/>
              </a:rPr>
              <a:t> </a:t>
            </a:r>
            <a:r>
              <a:rPr kumimoji="0" lang="en-US" altLang="en-US" sz="3600" b="1" i="0" u="none" strike="noStrike" cap="none" normalizeH="0" baseline="0" dirty="0">
                <a:ln>
                  <a:noFill/>
                </a:ln>
                <a:solidFill>
                  <a:schemeClr val="tx1"/>
                </a:solidFill>
                <a:effectLst/>
              </a:rPr>
              <a:t>declaration represents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rPr>
              <a:t>document type, and helps browsers to display web pages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rPr>
              <a:t>correctly.</a:t>
            </a:r>
            <a:endParaRPr kumimoji="0" lang="en-US" altLang="en-US" sz="3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It must only appear once, at the top of the page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(before any HTML tags).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The </a:t>
            </a:r>
            <a:r>
              <a:rPr kumimoji="0" lang="en-US" altLang="en-US" sz="3600" b="1" i="0" u="none" strike="noStrike" cap="none" normalizeH="0" baseline="0" dirty="0">
                <a:ln>
                  <a:noFill/>
                </a:ln>
                <a:solidFill>
                  <a:srgbClr val="00B0F0"/>
                </a:solidFill>
                <a:effectLst/>
                <a:latin typeface="Arial Unicode MS"/>
              </a:rPr>
              <a:t>&lt;!DOCTYPE&gt;</a:t>
            </a:r>
            <a:r>
              <a:rPr kumimoji="0" lang="en-US" altLang="en-US" sz="3600" b="1" i="0" u="none" strike="noStrike" cap="none" normalizeH="0" baseline="0" dirty="0">
                <a:ln>
                  <a:noFill/>
                </a:ln>
                <a:solidFill>
                  <a:srgbClr val="00B0F0"/>
                </a:solidFill>
                <a:effectLst/>
              </a:rPr>
              <a:t> </a:t>
            </a:r>
            <a:r>
              <a:rPr kumimoji="0" lang="en-US" altLang="en-US" sz="3600" b="1" i="0" u="none" strike="noStrike" cap="none" normalizeH="0" baseline="0" dirty="0">
                <a:ln>
                  <a:noFill/>
                </a:ln>
                <a:solidFill>
                  <a:schemeClr val="tx1"/>
                </a:solidFill>
                <a:effectLst/>
              </a:rPr>
              <a:t>declaration is not case sensitive.</a:t>
            </a:r>
            <a:endParaRPr kumimoji="0" lang="en-US" altLang="en-US" sz="3600" b="1"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None/>
            </a:pPr>
            <a:r>
              <a:rPr kumimoji="0" lang="en-US" altLang="en-US" sz="3600" b="1" i="0" u="none" strike="noStrike" cap="none" normalizeH="0" baseline="0" dirty="0">
                <a:ln>
                  <a:noFill/>
                </a:ln>
                <a:solidFill>
                  <a:schemeClr val="tx1"/>
                </a:solidFill>
                <a:effectLst/>
                <a:latin typeface="Arial" panose="020B0604020202020204" pitchFamily="34" charset="0"/>
              </a:rPr>
              <a:t>The </a:t>
            </a:r>
            <a:r>
              <a:rPr kumimoji="0" lang="en-US" altLang="en-US" sz="3600" b="1" i="0" u="none" strike="noStrike" cap="none" normalizeH="0" baseline="0" dirty="0">
                <a:ln>
                  <a:noFill/>
                </a:ln>
                <a:solidFill>
                  <a:srgbClr val="00B0F0"/>
                </a:solidFill>
                <a:effectLst/>
                <a:latin typeface="Arial Unicode MS"/>
              </a:rPr>
              <a:t>&lt;!DOCTYPE&gt;</a:t>
            </a:r>
            <a:r>
              <a:rPr kumimoji="0" lang="en-US" altLang="en-US" sz="3600" b="1" i="0" u="none" strike="noStrike" cap="none" normalizeH="0" baseline="0" dirty="0">
                <a:ln>
                  <a:noFill/>
                </a:ln>
                <a:solidFill>
                  <a:srgbClr val="00B0F0"/>
                </a:solidFill>
                <a:effectLst/>
              </a:rPr>
              <a:t> </a:t>
            </a:r>
            <a:r>
              <a:rPr kumimoji="0" lang="en-US" altLang="en-US" sz="3600" b="1" i="0" u="none" strike="noStrike" cap="none" normalizeH="0" baseline="0" dirty="0">
                <a:ln>
                  <a:noFill/>
                </a:ln>
                <a:solidFill>
                  <a:schemeClr val="tx1"/>
                </a:solidFill>
                <a:effectLst/>
              </a:rPr>
              <a:t>declaration for HTML5 is:</a:t>
            </a:r>
          </a:p>
          <a:p>
            <a:pPr marL="0" indent="0" eaLnBrk="0" fontAlgn="base" hangingPunct="0">
              <a:lnSpc>
                <a:spcPct val="100000"/>
              </a:lnSpc>
              <a:spcBef>
                <a:spcPct val="0"/>
              </a:spcBef>
              <a:spcAft>
                <a:spcPct val="0"/>
              </a:spcAft>
              <a:buClrTx/>
              <a:buNone/>
            </a:pPr>
            <a:endParaRPr kumimoji="0" lang="en-US" altLang="en-US" sz="3600" b="1" i="0" u="none" strike="noStrike" cap="none" normalizeH="0" baseline="0" dirty="0">
              <a:ln>
                <a:noFill/>
              </a:ln>
              <a:solidFill>
                <a:schemeClr val="tx1"/>
              </a:solidFill>
              <a:effectLst/>
            </a:endParaRPr>
          </a:p>
          <a:p>
            <a:pPr marL="0" indent="0" eaLnBrk="0" fontAlgn="base" hangingPunct="0">
              <a:lnSpc>
                <a:spcPct val="100000"/>
              </a:lnSpc>
              <a:spcBef>
                <a:spcPct val="0"/>
              </a:spcBef>
              <a:spcAft>
                <a:spcPct val="0"/>
              </a:spcAft>
              <a:buClrTx/>
              <a:buNone/>
            </a:pPr>
            <a:r>
              <a:rPr lang="en-IN" sz="2400" b="1" dirty="0">
                <a:solidFill>
                  <a:srgbClr val="FFFF00"/>
                </a:solidFill>
              </a:rPr>
              <a:t>&lt;!DOCTYPE html&gt;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42078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7E21-204E-41B6-BF79-D761ABCB6951}"/>
              </a:ext>
            </a:extLst>
          </p:cNvPr>
          <p:cNvSpPr>
            <a:spLocks noGrp="1"/>
          </p:cNvSpPr>
          <p:nvPr>
            <p:ph type="title"/>
          </p:nvPr>
        </p:nvSpPr>
        <p:spPr/>
        <p:txBody>
          <a:bodyPr/>
          <a:lstStyle/>
          <a:p>
            <a:r>
              <a:rPr lang="en-IN" dirty="0"/>
              <a:t>HTML HEADINGS</a:t>
            </a:r>
          </a:p>
        </p:txBody>
      </p:sp>
      <p:sp>
        <p:nvSpPr>
          <p:cNvPr id="4" name="Rectangle 1">
            <a:extLst>
              <a:ext uri="{FF2B5EF4-FFF2-40B4-BE49-F238E27FC236}">
                <a16:creationId xmlns:a16="http://schemas.microsoft.com/office/drawing/2014/main" id="{75050753-08D0-48AC-81E2-95D9A8F4ACE0}"/>
              </a:ext>
            </a:extLst>
          </p:cNvPr>
          <p:cNvSpPr>
            <a:spLocks noGrp="1" noChangeArrowheads="1"/>
          </p:cNvSpPr>
          <p:nvPr>
            <p:ph idx="1"/>
          </p:nvPr>
        </p:nvSpPr>
        <p:spPr bwMode="auto">
          <a:xfrm>
            <a:off x="1202919" y="1965971"/>
            <a:ext cx="7800533"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HTML headings are defined with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Unicode MS"/>
              </a:rPr>
              <a:t>&lt;h1&gt;</a:t>
            </a:r>
            <a:r>
              <a:rPr kumimoji="0" lang="en-US" altLang="en-US" sz="3200" b="1" i="0" u="none" strike="noStrike" cap="none" normalizeH="0" baseline="0" dirty="0">
                <a:ln>
                  <a:noFill/>
                </a:ln>
                <a:solidFill>
                  <a:schemeClr val="tx1"/>
                </a:solidFill>
                <a:effectLst/>
              </a:rPr>
              <a:t> to </a:t>
            </a:r>
            <a:r>
              <a:rPr kumimoji="0" lang="en-US" altLang="en-US" sz="3200" b="1" i="0" u="none" strike="noStrike" cap="none" normalizeH="0" baseline="0" dirty="0">
                <a:ln>
                  <a:noFill/>
                </a:ln>
                <a:solidFill>
                  <a:schemeClr val="tx1"/>
                </a:solidFill>
                <a:effectLst/>
                <a:latin typeface="Arial Unicode MS"/>
              </a:rPr>
              <a:t>&lt;h6&gt;</a:t>
            </a:r>
            <a:r>
              <a:rPr kumimoji="0" lang="en-US" altLang="en-US" sz="3200" b="1" i="0" u="none" strike="noStrike" cap="none" normalizeH="0" baseline="0" dirty="0">
                <a:ln>
                  <a:noFill/>
                </a:ln>
                <a:solidFill>
                  <a:schemeClr val="tx1"/>
                </a:solidFill>
                <a:effectLst/>
              </a:rPr>
              <a:t> tags.</a:t>
            </a:r>
            <a:endParaRPr kumimoji="0" lang="en-US" altLang="en-US" sz="3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Unicode MS"/>
              </a:rPr>
              <a:t>&lt;h1&gt;</a:t>
            </a:r>
            <a:r>
              <a:rPr kumimoji="0" lang="en-US" altLang="en-US" sz="3200" b="1" i="0" u="none" strike="noStrike" cap="none" normalizeH="0" baseline="0" dirty="0">
                <a:ln>
                  <a:noFill/>
                </a:ln>
                <a:solidFill>
                  <a:schemeClr val="tx1"/>
                </a:solidFill>
                <a:effectLst/>
              </a:rPr>
              <a:t> defines the most important heading.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Unicode MS"/>
              </a:rPr>
              <a:t>&lt;h6&gt;</a:t>
            </a:r>
            <a:r>
              <a:rPr kumimoji="0" lang="en-US" altLang="en-US" sz="3200" b="1" i="0" u="none" strike="noStrike" cap="none" normalizeH="0" baseline="0" dirty="0">
                <a:ln>
                  <a:noFill/>
                </a:ln>
                <a:solidFill>
                  <a:schemeClr val="tx1"/>
                </a:solidFill>
                <a:effectLst/>
              </a:rPr>
              <a:t> defines the least important heading: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b="1" dirty="0">
                <a:latin typeface="Arial" panose="020B0604020202020204" pitchFamily="34" charset="0"/>
              </a:rPr>
              <a:t>EXAMPLE:</a:t>
            </a:r>
          </a:p>
          <a:p>
            <a:pPr marL="0" indent="0" eaLnBrk="0" fontAlgn="base" hangingPunct="0">
              <a:lnSpc>
                <a:spcPct val="100000"/>
              </a:lnSpc>
              <a:spcBef>
                <a:spcPct val="0"/>
              </a:spcBef>
              <a:spcAft>
                <a:spcPct val="0"/>
              </a:spcAft>
              <a:buClrTx/>
              <a:buNone/>
            </a:pPr>
            <a:r>
              <a:rPr lang="en-US" sz="3200" dirty="0"/>
              <a:t>&lt;h1&gt;This is heading 1&lt;/h1&gt;</a:t>
            </a:r>
            <a:br>
              <a:rPr lang="en-US" sz="3200" dirty="0"/>
            </a:br>
            <a:r>
              <a:rPr lang="en-US" sz="3200" dirty="0"/>
              <a:t>&lt;h2&gt;This is heading 2&lt;/h2&gt;</a:t>
            </a:r>
            <a:br>
              <a:rPr lang="en-US" sz="3200" dirty="0"/>
            </a:br>
            <a:r>
              <a:rPr lang="en-US" sz="3200" dirty="0"/>
              <a:t>&lt;h3&gt;This is heading 3&lt;/h3&gt;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84391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2D77-2AA4-4E8D-B430-3028EDB902B1}"/>
              </a:ext>
            </a:extLst>
          </p:cNvPr>
          <p:cNvSpPr>
            <a:spLocks noGrp="1"/>
          </p:cNvSpPr>
          <p:nvPr>
            <p:ph type="title"/>
          </p:nvPr>
        </p:nvSpPr>
        <p:spPr/>
        <p:txBody>
          <a:bodyPr/>
          <a:lstStyle/>
          <a:p>
            <a:r>
              <a:rPr lang="en-IN" dirty="0"/>
              <a:t>HTML PARAGRAPHS</a:t>
            </a:r>
          </a:p>
        </p:txBody>
      </p:sp>
      <p:sp>
        <p:nvSpPr>
          <p:cNvPr id="4" name="Rectangle 1">
            <a:extLst>
              <a:ext uri="{FF2B5EF4-FFF2-40B4-BE49-F238E27FC236}">
                <a16:creationId xmlns:a16="http://schemas.microsoft.com/office/drawing/2014/main" id="{D19ACAA4-FEE3-4AD2-BC3C-39CE51A94D98}"/>
              </a:ext>
            </a:extLst>
          </p:cNvPr>
          <p:cNvSpPr>
            <a:spLocks noGrp="1" noChangeArrowheads="1"/>
          </p:cNvSpPr>
          <p:nvPr>
            <p:ph idx="1"/>
          </p:nvPr>
        </p:nvSpPr>
        <p:spPr bwMode="auto">
          <a:xfrm>
            <a:off x="580304" y="1989547"/>
            <a:ext cx="1040669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HTML paragraphs are defined with the </a:t>
            </a:r>
            <a:r>
              <a:rPr kumimoji="0" lang="en-US" altLang="en-US" sz="3600" b="1" i="0" u="none" strike="noStrike" cap="none" normalizeH="0" baseline="0" dirty="0">
                <a:ln>
                  <a:noFill/>
                </a:ln>
                <a:solidFill>
                  <a:schemeClr val="tx1"/>
                </a:solidFill>
                <a:effectLst/>
                <a:latin typeface="Arial Unicode MS"/>
              </a:rPr>
              <a:t>&lt;p&gt;</a:t>
            </a:r>
            <a:r>
              <a:rPr kumimoji="0" lang="en-US" altLang="en-US" sz="3600" b="1" i="0" u="none" strike="noStrike" cap="none" normalizeH="0" baseline="0" dirty="0">
                <a:ln>
                  <a:noFill/>
                </a:ln>
                <a:solidFill>
                  <a:schemeClr val="tx1"/>
                </a:solidFill>
                <a:effectLst/>
              </a:rPr>
              <a:t> tag: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600" b="1" dirty="0"/>
              <a:t>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1" i="0" u="none" strike="noStrike" cap="none" normalizeH="0" baseline="0" dirty="0">
              <a:ln>
                <a:noFill/>
              </a:ln>
              <a:solidFill>
                <a:schemeClr val="tx1"/>
              </a:solidFill>
              <a:effectLst/>
            </a:endParaRPr>
          </a:p>
          <a:p>
            <a:pPr marL="0" indent="0" eaLnBrk="0" fontAlgn="base" hangingPunct="0">
              <a:lnSpc>
                <a:spcPct val="100000"/>
              </a:lnSpc>
              <a:spcBef>
                <a:spcPct val="0"/>
              </a:spcBef>
              <a:spcAft>
                <a:spcPct val="0"/>
              </a:spcAft>
              <a:buClrTx/>
              <a:buNone/>
            </a:pPr>
            <a:r>
              <a:rPr lang="en-US" dirty="0"/>
              <a:t>&lt;p&gt;</a:t>
            </a:r>
            <a:r>
              <a:rPr lang="en-US" sz="3600" dirty="0"/>
              <a:t>This is a paragraph.</a:t>
            </a:r>
            <a:r>
              <a:rPr lang="en-US" dirty="0"/>
              <a:t>&lt;/p&gt;</a:t>
            </a:r>
            <a:br>
              <a:rPr lang="en-US" sz="3600" dirty="0"/>
            </a:br>
            <a:r>
              <a:rPr lang="en-US" dirty="0"/>
              <a:t>&lt;p&gt;</a:t>
            </a:r>
            <a:r>
              <a:rPr lang="en-US" sz="3600" dirty="0"/>
              <a:t>This is another paragraph.</a:t>
            </a:r>
            <a:r>
              <a:rPr lang="en-US" dirty="0"/>
              <a:t>&lt;/p&gt;</a:t>
            </a:r>
            <a:r>
              <a:rPr lang="en-US" sz="3600" dirty="0"/>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rPr>
              <a:t> </a:t>
            </a:r>
            <a:endParaRPr kumimoji="0" lang="en-US" altLang="en-US" sz="36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6097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8F550-06D0-472F-8753-A15A69DF5FF6}"/>
              </a:ext>
            </a:extLst>
          </p:cNvPr>
          <p:cNvSpPr>
            <a:spLocks noGrp="1"/>
          </p:cNvSpPr>
          <p:nvPr>
            <p:ph type="title"/>
          </p:nvPr>
        </p:nvSpPr>
        <p:spPr/>
        <p:txBody>
          <a:bodyPr/>
          <a:lstStyle/>
          <a:p>
            <a:r>
              <a:rPr lang="en-IN" dirty="0"/>
              <a:t>HTML LINKS</a:t>
            </a:r>
          </a:p>
        </p:txBody>
      </p:sp>
      <p:sp>
        <p:nvSpPr>
          <p:cNvPr id="4" name="Rectangle 1">
            <a:extLst>
              <a:ext uri="{FF2B5EF4-FFF2-40B4-BE49-F238E27FC236}">
                <a16:creationId xmlns:a16="http://schemas.microsoft.com/office/drawing/2014/main" id="{6FC2EE92-D46F-482B-82F3-7A90C1CB3587}"/>
              </a:ext>
            </a:extLst>
          </p:cNvPr>
          <p:cNvSpPr>
            <a:spLocks noGrp="1" noChangeArrowheads="1"/>
          </p:cNvSpPr>
          <p:nvPr>
            <p:ph idx="1"/>
          </p:nvPr>
        </p:nvSpPr>
        <p:spPr bwMode="auto">
          <a:xfrm>
            <a:off x="272476" y="2276071"/>
            <a:ext cx="113785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a:ln>
                  <a:noFill/>
                </a:ln>
                <a:solidFill>
                  <a:schemeClr val="tx1"/>
                </a:solidFill>
                <a:effectLst/>
                <a:latin typeface="Arial" panose="020B0604020202020204" pitchFamily="34" charset="0"/>
              </a:rPr>
              <a:t>HTML links are defined with the </a:t>
            </a:r>
            <a:r>
              <a:rPr kumimoji="0" lang="en-US" altLang="en-US" sz="3600" b="1" i="0" u="none" strike="noStrike" cap="none" normalizeH="0" baseline="0" dirty="0">
                <a:ln>
                  <a:noFill/>
                </a:ln>
                <a:solidFill>
                  <a:schemeClr val="tx1"/>
                </a:solidFill>
                <a:effectLst/>
                <a:latin typeface="Arial Unicode MS"/>
              </a:rPr>
              <a:t>&lt;a&gt;</a:t>
            </a:r>
            <a:r>
              <a:rPr kumimoji="0" lang="en-US" altLang="en-US" sz="3600" b="1" i="0" u="none" strike="noStrike" cap="none" normalizeH="0" baseline="0" dirty="0">
                <a:ln>
                  <a:noFill/>
                </a:ln>
                <a:solidFill>
                  <a:schemeClr val="tx1"/>
                </a:solidFill>
                <a:effectLst/>
              </a:rPr>
              <a:t> tag: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600" b="1" dirty="0">
                <a:latin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1"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ClrTx/>
              <a:buNone/>
            </a:pPr>
            <a:r>
              <a:rPr lang="en-IN" sz="3600" b="1" dirty="0"/>
              <a:t>&lt;a </a:t>
            </a:r>
            <a:r>
              <a:rPr lang="en-IN" sz="3600" b="1" dirty="0" err="1"/>
              <a:t>href</a:t>
            </a:r>
            <a:r>
              <a:rPr lang="en-IN" sz="3600" b="1" dirty="0"/>
              <a:t>="https://www.google.com"&gt;This is a link&lt;/a&gt;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104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B631-6B71-4B01-A78C-209CEF48923A}"/>
              </a:ext>
            </a:extLst>
          </p:cNvPr>
          <p:cNvSpPr>
            <a:spLocks noGrp="1"/>
          </p:cNvSpPr>
          <p:nvPr>
            <p:ph type="title"/>
          </p:nvPr>
        </p:nvSpPr>
        <p:spPr/>
        <p:txBody>
          <a:bodyPr/>
          <a:lstStyle/>
          <a:p>
            <a:r>
              <a:rPr lang="en-IN" dirty="0"/>
              <a:t>Html image</a:t>
            </a:r>
          </a:p>
        </p:txBody>
      </p:sp>
      <p:sp>
        <p:nvSpPr>
          <p:cNvPr id="4" name="Rectangle 1">
            <a:extLst>
              <a:ext uri="{FF2B5EF4-FFF2-40B4-BE49-F238E27FC236}">
                <a16:creationId xmlns:a16="http://schemas.microsoft.com/office/drawing/2014/main" id="{C36E7360-E422-49F4-AD21-B6D773B2265D}"/>
              </a:ext>
            </a:extLst>
          </p:cNvPr>
          <p:cNvSpPr>
            <a:spLocks noGrp="1" noChangeArrowheads="1"/>
          </p:cNvSpPr>
          <p:nvPr>
            <p:ph idx="1"/>
          </p:nvPr>
        </p:nvSpPr>
        <p:spPr bwMode="auto">
          <a:xfrm>
            <a:off x="73118" y="2769705"/>
            <a:ext cx="1150928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Arial Rounded MT Bold" panose="020F0704030504030204" pitchFamily="34" charset="0"/>
              </a:rPr>
              <a:t>HTML images are defined with the &lt;</a:t>
            </a:r>
            <a:r>
              <a:rPr kumimoji="0" lang="en-US" altLang="en-US" sz="2800" i="0" u="none" strike="noStrike" cap="none" normalizeH="0" baseline="0" dirty="0" err="1">
                <a:ln>
                  <a:noFill/>
                </a:ln>
                <a:solidFill>
                  <a:schemeClr val="tx1"/>
                </a:solidFill>
                <a:effectLst/>
                <a:latin typeface="Arial Rounded MT Bold" panose="020F0704030504030204" pitchFamily="34" charset="0"/>
              </a:rPr>
              <a:t>img</a:t>
            </a:r>
            <a:r>
              <a:rPr kumimoji="0" lang="en-US" altLang="en-US" sz="2800" i="0" u="none" strike="noStrike" cap="none" normalizeH="0" baseline="0" dirty="0">
                <a:ln>
                  <a:noFill/>
                </a:ln>
                <a:solidFill>
                  <a:schemeClr val="tx1"/>
                </a:solidFill>
                <a:effectLst/>
                <a:latin typeface="Arial Rounded MT Bold" panose="020F0704030504030204" pitchFamily="34" charset="0"/>
              </a:rPr>
              <a:t>&gt; tag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latin typeface="Arial Rounded MT Bold" panose="020F0704030504030204" pitchFamily="34" charset="0"/>
              </a:rPr>
              <a:t>EXAMPLE:</a:t>
            </a:r>
          </a:p>
          <a:p>
            <a:pPr marL="0" indent="0" eaLnBrk="0" fontAlgn="base" hangingPunct="0">
              <a:lnSpc>
                <a:spcPct val="100000"/>
              </a:lnSpc>
              <a:spcBef>
                <a:spcPct val="0"/>
              </a:spcBef>
              <a:spcAft>
                <a:spcPct val="0"/>
              </a:spcAft>
              <a:buClrTx/>
              <a:buNone/>
            </a:pPr>
            <a:r>
              <a:rPr lang="en-IN" sz="2800" dirty="0">
                <a:latin typeface="Arial Rounded MT Bold" panose="020F0704030504030204" pitchFamily="34" charset="0"/>
              </a:rPr>
              <a:t>&lt;</a:t>
            </a:r>
            <a:r>
              <a:rPr lang="en-IN" sz="2800" dirty="0" err="1">
                <a:latin typeface="Arial Rounded MT Bold" panose="020F0704030504030204" pitchFamily="34" charset="0"/>
              </a:rPr>
              <a:t>img</a:t>
            </a:r>
            <a:r>
              <a:rPr lang="en-IN" sz="2800" dirty="0">
                <a:latin typeface="Arial Rounded MT Bold" panose="020F0704030504030204" pitchFamily="34" charset="0"/>
              </a:rPr>
              <a:t> </a:t>
            </a:r>
            <a:r>
              <a:rPr lang="en-IN" sz="2800" dirty="0" err="1">
                <a:latin typeface="Arial Rounded MT Bold" panose="020F0704030504030204" pitchFamily="34" charset="0"/>
              </a:rPr>
              <a:t>src</a:t>
            </a:r>
            <a:r>
              <a:rPr lang="en-IN" sz="2800" dirty="0">
                <a:latin typeface="Arial Rounded MT Bold" panose="020F0704030504030204" pitchFamily="34" charset="0"/>
              </a:rPr>
              <a:t>=“image1.jpg" alt=“image" width="104" height="142"&gt;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54308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0BAAA-B1AE-4AC0-ACDB-C6BF3C2CAA28}"/>
              </a:ext>
            </a:extLst>
          </p:cNvPr>
          <p:cNvSpPr>
            <a:spLocks noGrp="1"/>
          </p:cNvSpPr>
          <p:nvPr>
            <p:ph type="title"/>
          </p:nvPr>
        </p:nvSpPr>
        <p:spPr/>
        <p:txBody>
          <a:bodyPr/>
          <a:lstStyle/>
          <a:p>
            <a:r>
              <a:rPr lang="en-IN" dirty="0"/>
              <a:t>HOW TO VIEW HTML SOURCE?</a:t>
            </a:r>
          </a:p>
        </p:txBody>
      </p:sp>
      <p:sp>
        <p:nvSpPr>
          <p:cNvPr id="3" name="Content Placeholder 2">
            <a:extLst>
              <a:ext uri="{FF2B5EF4-FFF2-40B4-BE49-F238E27FC236}">
                <a16:creationId xmlns:a16="http://schemas.microsoft.com/office/drawing/2014/main" id="{2635379C-3390-4E2F-BF47-6ADB754A87E5}"/>
              </a:ext>
            </a:extLst>
          </p:cNvPr>
          <p:cNvSpPr>
            <a:spLocks noGrp="1"/>
          </p:cNvSpPr>
          <p:nvPr>
            <p:ph idx="1"/>
          </p:nvPr>
        </p:nvSpPr>
        <p:spPr/>
        <p:txBody>
          <a:bodyPr>
            <a:normAutofit fontScale="92500" lnSpcReduction="20000"/>
          </a:bodyPr>
          <a:lstStyle/>
          <a:p>
            <a:pPr algn="ctr"/>
            <a:r>
              <a:rPr lang="en-US" sz="3200" dirty="0">
                <a:solidFill>
                  <a:srgbClr val="FFFF00"/>
                </a:solidFill>
                <a:latin typeface="+mj-lt"/>
              </a:rPr>
              <a:t>View HTML Source Code:</a:t>
            </a:r>
          </a:p>
          <a:p>
            <a:pPr algn="ctr"/>
            <a:r>
              <a:rPr lang="en-US" sz="3200" dirty="0">
                <a:latin typeface="+mj-lt"/>
              </a:rPr>
              <a:t>Right-click in an HTML page and select "View Page Source" (in Chrome) or "View Source" (in Edge), or similar in other browsers. This will open a window containing the HTML source code of the page.</a:t>
            </a:r>
          </a:p>
          <a:p>
            <a:pPr algn="ctr"/>
            <a:r>
              <a:rPr lang="en-US" sz="3200" dirty="0">
                <a:solidFill>
                  <a:srgbClr val="FFFF00"/>
                </a:solidFill>
                <a:latin typeface="+mj-lt"/>
              </a:rPr>
              <a:t>Inspect an HTML Element:</a:t>
            </a:r>
          </a:p>
          <a:p>
            <a:pPr marL="0" indent="0" algn="ctr">
              <a:buNone/>
            </a:pPr>
            <a:r>
              <a:rPr lang="en-US" sz="3200" dirty="0">
                <a:latin typeface="+mj-lt"/>
              </a:rPr>
              <a:t>Right-click on an element (or a blank area), and choose "Inspect" or "Inspect Element" to see what elements are made up of (you will see both the HTML and the CSS). You can also edit the HTML or CSS on-the-fly in the Elements or Styles panel that opens.</a:t>
            </a:r>
          </a:p>
          <a:p>
            <a:endParaRPr lang="en-IN" dirty="0"/>
          </a:p>
        </p:txBody>
      </p:sp>
    </p:spTree>
    <p:extLst>
      <p:ext uri="{BB962C8B-B14F-4D97-AF65-F5344CB8AC3E}">
        <p14:creationId xmlns:p14="http://schemas.microsoft.com/office/powerpoint/2010/main" val="3031535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EBEA-BC8F-4C56-88CD-CD62686E2A56}"/>
              </a:ext>
            </a:extLst>
          </p:cNvPr>
          <p:cNvSpPr>
            <a:spLocks noGrp="1"/>
          </p:cNvSpPr>
          <p:nvPr>
            <p:ph type="title"/>
          </p:nvPr>
        </p:nvSpPr>
        <p:spPr/>
        <p:txBody>
          <a:bodyPr/>
          <a:lstStyle/>
          <a:p>
            <a:r>
              <a:rPr lang="en-IN" dirty="0"/>
              <a:t>HTML ELEMENTS</a:t>
            </a:r>
          </a:p>
        </p:txBody>
      </p:sp>
      <p:sp>
        <p:nvSpPr>
          <p:cNvPr id="3" name="Content Placeholder 2">
            <a:extLst>
              <a:ext uri="{FF2B5EF4-FFF2-40B4-BE49-F238E27FC236}">
                <a16:creationId xmlns:a16="http://schemas.microsoft.com/office/drawing/2014/main" id="{A67A6E0D-B06E-4F31-946B-6D593B28DABC}"/>
              </a:ext>
            </a:extLst>
          </p:cNvPr>
          <p:cNvSpPr>
            <a:spLocks noGrp="1"/>
          </p:cNvSpPr>
          <p:nvPr>
            <p:ph idx="1"/>
          </p:nvPr>
        </p:nvSpPr>
        <p:spPr/>
        <p:txBody>
          <a:bodyPr/>
          <a:lstStyle/>
          <a:p>
            <a:r>
              <a:rPr lang="en-US" dirty="0"/>
              <a:t>An HTML element is defined by a start tag, some content, and an end tag.</a:t>
            </a:r>
          </a:p>
          <a:p>
            <a:endParaRPr lang="en-US" dirty="0"/>
          </a:p>
          <a:p>
            <a:r>
              <a:rPr lang="en-US" dirty="0">
                <a:solidFill>
                  <a:srgbClr val="0000CD"/>
                </a:solidFill>
                <a:effectLst/>
              </a:rPr>
              <a:t>&lt;</a:t>
            </a:r>
            <a:r>
              <a:rPr lang="en-US" dirty="0" err="1">
                <a:solidFill>
                  <a:srgbClr val="FFFF00"/>
                </a:solidFill>
                <a:effectLst/>
              </a:rPr>
              <a:t>tagname</a:t>
            </a:r>
            <a:r>
              <a:rPr lang="en-US" dirty="0">
                <a:solidFill>
                  <a:srgbClr val="0000CD"/>
                </a:solidFill>
                <a:effectLst/>
              </a:rPr>
              <a:t>&gt;</a:t>
            </a:r>
            <a:r>
              <a:rPr lang="en-US" dirty="0">
                <a:effectLst/>
              </a:rPr>
              <a:t>Content goes here...</a:t>
            </a:r>
            <a:r>
              <a:rPr lang="en-US" dirty="0">
                <a:solidFill>
                  <a:srgbClr val="0000CD"/>
                </a:solidFill>
                <a:effectLst/>
              </a:rPr>
              <a:t>&lt;</a:t>
            </a:r>
            <a:r>
              <a:rPr lang="en-US" dirty="0">
                <a:solidFill>
                  <a:srgbClr val="FFFF00"/>
                </a:solidFill>
                <a:effectLst/>
              </a:rPr>
              <a:t>/</a:t>
            </a:r>
            <a:r>
              <a:rPr lang="en-US" dirty="0" err="1">
                <a:solidFill>
                  <a:srgbClr val="FFFF00"/>
                </a:solidFill>
                <a:effectLst/>
              </a:rPr>
              <a:t>tagname</a:t>
            </a:r>
            <a:r>
              <a:rPr lang="en-US" dirty="0">
                <a:solidFill>
                  <a:srgbClr val="0000CD"/>
                </a:solidFill>
                <a:effectLst/>
              </a:rPr>
              <a:t>&gt;</a:t>
            </a:r>
            <a:r>
              <a:rPr lang="en-US" dirty="0">
                <a:effectLst/>
              </a:rPr>
              <a:t> </a:t>
            </a:r>
          </a:p>
          <a:p>
            <a:r>
              <a:rPr lang="en-US" dirty="0"/>
              <a:t>The HTML </a:t>
            </a:r>
            <a:r>
              <a:rPr lang="en-US" b="1" dirty="0"/>
              <a:t>element</a:t>
            </a:r>
            <a:r>
              <a:rPr lang="en-US" dirty="0"/>
              <a:t> is everything from the start tag to the end tag:</a:t>
            </a:r>
          </a:p>
          <a:p>
            <a:r>
              <a:rPr lang="en-US" dirty="0">
                <a:solidFill>
                  <a:srgbClr val="0000CD"/>
                </a:solidFill>
                <a:effectLst/>
              </a:rPr>
              <a:t>&lt;</a:t>
            </a:r>
            <a:r>
              <a:rPr lang="en-US" dirty="0">
                <a:solidFill>
                  <a:srgbClr val="FFFF00"/>
                </a:solidFill>
                <a:effectLst/>
              </a:rPr>
              <a:t>h1</a:t>
            </a:r>
            <a:r>
              <a:rPr lang="en-US" dirty="0">
                <a:solidFill>
                  <a:srgbClr val="0000CD"/>
                </a:solidFill>
                <a:effectLst/>
              </a:rPr>
              <a:t>&gt;</a:t>
            </a:r>
            <a:r>
              <a:rPr lang="en-US" dirty="0">
                <a:effectLst/>
              </a:rPr>
              <a:t>My First Heading</a:t>
            </a:r>
            <a:r>
              <a:rPr lang="en-US" dirty="0">
                <a:solidFill>
                  <a:srgbClr val="0000CD"/>
                </a:solidFill>
                <a:effectLst/>
              </a:rPr>
              <a:t>&lt;</a:t>
            </a:r>
            <a:r>
              <a:rPr lang="en-US" dirty="0">
                <a:solidFill>
                  <a:srgbClr val="FFFF00"/>
                </a:solidFill>
                <a:effectLst/>
              </a:rPr>
              <a:t>/h1</a:t>
            </a:r>
            <a:r>
              <a:rPr lang="en-US" dirty="0">
                <a:solidFill>
                  <a:srgbClr val="0000CD"/>
                </a:solidFill>
                <a:effectLst/>
              </a:rPr>
              <a:t>&gt;</a:t>
            </a:r>
            <a:r>
              <a:rPr lang="en-US" dirty="0">
                <a:effectLst/>
              </a:rPr>
              <a:t> </a:t>
            </a:r>
          </a:p>
          <a:p>
            <a:r>
              <a:rPr lang="en-US" dirty="0">
                <a:solidFill>
                  <a:srgbClr val="0000CD"/>
                </a:solidFill>
                <a:effectLst/>
              </a:rPr>
              <a:t>&lt;</a:t>
            </a:r>
            <a:r>
              <a:rPr lang="en-US" dirty="0">
                <a:solidFill>
                  <a:srgbClr val="FFFF00"/>
                </a:solidFill>
                <a:effectLst/>
              </a:rPr>
              <a:t>p</a:t>
            </a:r>
            <a:r>
              <a:rPr lang="en-US" dirty="0">
                <a:solidFill>
                  <a:srgbClr val="0000CD"/>
                </a:solidFill>
                <a:effectLst/>
              </a:rPr>
              <a:t>&gt;</a:t>
            </a:r>
            <a:r>
              <a:rPr lang="en-US" dirty="0">
                <a:effectLst/>
              </a:rPr>
              <a:t>My first paragraph.</a:t>
            </a:r>
            <a:r>
              <a:rPr lang="en-US" dirty="0">
                <a:solidFill>
                  <a:srgbClr val="0000CD"/>
                </a:solidFill>
                <a:effectLst/>
              </a:rPr>
              <a:t>&lt;</a:t>
            </a:r>
            <a:r>
              <a:rPr lang="en-US" dirty="0">
                <a:solidFill>
                  <a:srgbClr val="FFFF00"/>
                </a:solidFill>
                <a:effectLst/>
              </a:rPr>
              <a:t>/p</a:t>
            </a:r>
            <a:r>
              <a:rPr lang="en-US" dirty="0">
                <a:solidFill>
                  <a:srgbClr val="0000CD"/>
                </a:solidFill>
                <a:effectLst/>
              </a:rPr>
              <a:t>&gt;</a:t>
            </a:r>
            <a:r>
              <a:rPr lang="en-US" dirty="0">
                <a:effectLst/>
              </a:rPr>
              <a:t> </a:t>
            </a:r>
          </a:p>
          <a:p>
            <a:endParaRPr lang="en-IN" dirty="0"/>
          </a:p>
        </p:txBody>
      </p:sp>
    </p:spTree>
    <p:extLst>
      <p:ext uri="{BB962C8B-B14F-4D97-AF65-F5344CB8AC3E}">
        <p14:creationId xmlns:p14="http://schemas.microsoft.com/office/powerpoint/2010/main" val="1190201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EBEA-BC8F-4C56-88CD-CD62686E2A56}"/>
              </a:ext>
            </a:extLst>
          </p:cNvPr>
          <p:cNvSpPr>
            <a:spLocks noGrp="1"/>
          </p:cNvSpPr>
          <p:nvPr>
            <p:ph type="title"/>
          </p:nvPr>
        </p:nvSpPr>
        <p:spPr/>
        <p:txBody>
          <a:bodyPr/>
          <a:lstStyle/>
          <a:p>
            <a:r>
              <a:rPr lang="en-IN" dirty="0"/>
              <a:t>HTML ELEMENTS</a:t>
            </a:r>
          </a:p>
        </p:txBody>
      </p:sp>
      <p:graphicFrame>
        <p:nvGraphicFramePr>
          <p:cNvPr id="4" name="Content Placeholder 3">
            <a:extLst>
              <a:ext uri="{FF2B5EF4-FFF2-40B4-BE49-F238E27FC236}">
                <a16:creationId xmlns:a16="http://schemas.microsoft.com/office/drawing/2014/main" id="{94A30B5D-67AC-4E05-8EB1-5A615068B897}"/>
              </a:ext>
            </a:extLst>
          </p:cNvPr>
          <p:cNvGraphicFramePr>
            <a:graphicFrameLocks noGrp="1"/>
          </p:cNvGraphicFramePr>
          <p:nvPr>
            <p:ph idx="1"/>
            <p:extLst>
              <p:ext uri="{D42A27DB-BD31-4B8C-83A1-F6EECF244321}">
                <p14:modId xmlns:p14="http://schemas.microsoft.com/office/powerpoint/2010/main" val="760790846"/>
              </p:ext>
            </p:extLst>
          </p:nvPr>
        </p:nvGraphicFramePr>
        <p:xfrm>
          <a:off x="956190" y="2880360"/>
          <a:ext cx="9783762" cy="1097280"/>
        </p:xfrm>
        <a:graphic>
          <a:graphicData uri="http://schemas.openxmlformats.org/drawingml/2006/table">
            <a:tbl>
              <a:tblPr/>
              <a:tblGrid>
                <a:gridCol w="3261254">
                  <a:extLst>
                    <a:ext uri="{9D8B030D-6E8A-4147-A177-3AD203B41FA5}">
                      <a16:colId xmlns:a16="http://schemas.microsoft.com/office/drawing/2014/main" val="644010664"/>
                    </a:ext>
                  </a:extLst>
                </a:gridCol>
                <a:gridCol w="3261254">
                  <a:extLst>
                    <a:ext uri="{9D8B030D-6E8A-4147-A177-3AD203B41FA5}">
                      <a16:colId xmlns:a16="http://schemas.microsoft.com/office/drawing/2014/main" val="2886844611"/>
                    </a:ext>
                  </a:extLst>
                </a:gridCol>
                <a:gridCol w="3261254">
                  <a:extLst>
                    <a:ext uri="{9D8B030D-6E8A-4147-A177-3AD203B41FA5}">
                      <a16:colId xmlns:a16="http://schemas.microsoft.com/office/drawing/2014/main" val="3999760731"/>
                    </a:ext>
                  </a:extLst>
                </a:gridCol>
              </a:tblGrid>
              <a:tr h="0">
                <a:tc>
                  <a:txBody>
                    <a:bodyPr/>
                    <a:lstStyle/>
                    <a:p>
                      <a:r>
                        <a:rPr lang="en-IN"/>
                        <a:t>&lt;h1&gt;</a:t>
                      </a:r>
                    </a:p>
                  </a:txBody>
                  <a:tcPr anchor="ctr">
                    <a:lnL>
                      <a:noFill/>
                    </a:lnL>
                    <a:lnR>
                      <a:noFill/>
                    </a:lnR>
                    <a:lnT>
                      <a:noFill/>
                    </a:lnT>
                    <a:lnB>
                      <a:noFill/>
                    </a:lnB>
                  </a:tcPr>
                </a:tc>
                <a:tc>
                  <a:txBody>
                    <a:bodyPr/>
                    <a:lstStyle/>
                    <a:p>
                      <a:r>
                        <a:rPr lang="en-IN" dirty="0"/>
                        <a:t>My First Heading</a:t>
                      </a:r>
                    </a:p>
                  </a:txBody>
                  <a:tcPr anchor="ctr">
                    <a:lnL>
                      <a:noFill/>
                    </a:lnL>
                    <a:lnR>
                      <a:noFill/>
                    </a:lnR>
                    <a:lnT>
                      <a:noFill/>
                    </a:lnT>
                    <a:lnB>
                      <a:noFill/>
                    </a:lnB>
                  </a:tcPr>
                </a:tc>
                <a:tc>
                  <a:txBody>
                    <a:bodyPr/>
                    <a:lstStyle/>
                    <a:p>
                      <a:r>
                        <a:rPr lang="en-IN"/>
                        <a:t>&lt;/h1&gt;</a:t>
                      </a:r>
                    </a:p>
                  </a:txBody>
                  <a:tcPr anchor="ctr">
                    <a:lnL>
                      <a:noFill/>
                    </a:lnL>
                    <a:lnR>
                      <a:noFill/>
                    </a:lnR>
                    <a:lnT>
                      <a:noFill/>
                    </a:lnT>
                    <a:lnB>
                      <a:noFill/>
                    </a:lnB>
                  </a:tcPr>
                </a:tc>
                <a:extLst>
                  <a:ext uri="{0D108BD9-81ED-4DB2-BD59-A6C34878D82A}">
                    <a16:rowId xmlns:a16="http://schemas.microsoft.com/office/drawing/2014/main" val="2632092789"/>
                  </a:ext>
                </a:extLst>
              </a:tr>
              <a:tr h="0">
                <a:tc>
                  <a:txBody>
                    <a:bodyPr/>
                    <a:lstStyle/>
                    <a:p>
                      <a:r>
                        <a:rPr lang="en-IN"/>
                        <a:t>&lt;p&gt;</a:t>
                      </a:r>
                    </a:p>
                  </a:txBody>
                  <a:tcPr anchor="ctr">
                    <a:lnL>
                      <a:noFill/>
                    </a:lnL>
                    <a:lnR>
                      <a:noFill/>
                    </a:lnR>
                    <a:lnT>
                      <a:noFill/>
                    </a:lnT>
                    <a:lnB>
                      <a:noFill/>
                    </a:lnB>
                  </a:tcPr>
                </a:tc>
                <a:tc>
                  <a:txBody>
                    <a:bodyPr/>
                    <a:lstStyle/>
                    <a:p>
                      <a:r>
                        <a:rPr lang="en-IN"/>
                        <a:t>My first paragraph.</a:t>
                      </a:r>
                    </a:p>
                  </a:txBody>
                  <a:tcPr anchor="ctr">
                    <a:lnL>
                      <a:noFill/>
                    </a:lnL>
                    <a:lnR>
                      <a:noFill/>
                    </a:lnR>
                    <a:lnT>
                      <a:noFill/>
                    </a:lnT>
                    <a:lnB>
                      <a:noFill/>
                    </a:lnB>
                  </a:tcPr>
                </a:tc>
                <a:tc>
                  <a:txBody>
                    <a:bodyPr/>
                    <a:lstStyle/>
                    <a:p>
                      <a:r>
                        <a:rPr lang="en-IN"/>
                        <a:t>&lt;/p&gt;</a:t>
                      </a:r>
                    </a:p>
                  </a:txBody>
                  <a:tcPr anchor="ctr">
                    <a:lnL>
                      <a:noFill/>
                    </a:lnL>
                    <a:lnR>
                      <a:noFill/>
                    </a:lnR>
                    <a:lnT>
                      <a:noFill/>
                    </a:lnT>
                    <a:lnB>
                      <a:noFill/>
                    </a:lnB>
                  </a:tcPr>
                </a:tc>
                <a:extLst>
                  <a:ext uri="{0D108BD9-81ED-4DB2-BD59-A6C34878D82A}">
                    <a16:rowId xmlns:a16="http://schemas.microsoft.com/office/drawing/2014/main" val="3988937953"/>
                  </a:ext>
                </a:extLst>
              </a:tr>
              <a:tr h="0">
                <a:tc>
                  <a:txBody>
                    <a:bodyPr/>
                    <a:lstStyle/>
                    <a:p>
                      <a:r>
                        <a:rPr lang="en-IN"/>
                        <a:t>&lt;br&gt;</a:t>
                      </a:r>
                    </a:p>
                  </a:txBody>
                  <a:tcPr anchor="ctr">
                    <a:lnL>
                      <a:noFill/>
                    </a:lnL>
                    <a:lnR>
                      <a:noFill/>
                    </a:lnR>
                    <a:lnT>
                      <a:noFill/>
                    </a:lnT>
                    <a:lnB>
                      <a:noFill/>
                    </a:lnB>
                  </a:tcPr>
                </a:tc>
                <a:tc>
                  <a:txBody>
                    <a:bodyPr/>
                    <a:lstStyle/>
                    <a:p>
                      <a:r>
                        <a:rPr lang="en-IN" i="1"/>
                        <a:t>none</a:t>
                      </a:r>
                      <a:endParaRPr lang="en-IN"/>
                    </a:p>
                  </a:txBody>
                  <a:tcPr anchor="ctr">
                    <a:lnL>
                      <a:noFill/>
                    </a:lnL>
                    <a:lnR>
                      <a:noFill/>
                    </a:lnR>
                    <a:lnT>
                      <a:noFill/>
                    </a:lnT>
                    <a:lnB>
                      <a:noFill/>
                    </a:lnB>
                  </a:tcPr>
                </a:tc>
                <a:tc>
                  <a:txBody>
                    <a:bodyPr/>
                    <a:lstStyle/>
                    <a:p>
                      <a:r>
                        <a:rPr lang="en-IN" i="1" dirty="0"/>
                        <a:t>none</a:t>
                      </a:r>
                      <a:endParaRPr lang="en-IN" dirty="0"/>
                    </a:p>
                  </a:txBody>
                  <a:tcPr anchor="ctr">
                    <a:lnL>
                      <a:noFill/>
                    </a:lnL>
                    <a:lnR>
                      <a:noFill/>
                    </a:lnR>
                    <a:lnT>
                      <a:noFill/>
                    </a:lnT>
                    <a:lnB>
                      <a:noFill/>
                    </a:lnB>
                  </a:tcPr>
                </a:tc>
                <a:extLst>
                  <a:ext uri="{0D108BD9-81ED-4DB2-BD59-A6C34878D82A}">
                    <a16:rowId xmlns:a16="http://schemas.microsoft.com/office/drawing/2014/main" val="937426190"/>
                  </a:ext>
                </a:extLst>
              </a:tr>
            </a:tbl>
          </a:graphicData>
        </a:graphic>
      </p:graphicFrame>
      <p:sp>
        <p:nvSpPr>
          <p:cNvPr id="6" name="TextBox 5">
            <a:extLst>
              <a:ext uri="{FF2B5EF4-FFF2-40B4-BE49-F238E27FC236}">
                <a16:creationId xmlns:a16="http://schemas.microsoft.com/office/drawing/2014/main" id="{6C7792A0-1F54-4875-9CCD-DEE65B7D3D24}"/>
              </a:ext>
            </a:extLst>
          </p:cNvPr>
          <p:cNvSpPr txBox="1"/>
          <p:nvPr/>
        </p:nvSpPr>
        <p:spPr>
          <a:xfrm>
            <a:off x="670643" y="5065064"/>
            <a:ext cx="10848632" cy="646331"/>
          </a:xfrm>
          <a:prstGeom prst="rect">
            <a:avLst/>
          </a:prstGeom>
          <a:noFill/>
        </p:spPr>
        <p:txBody>
          <a:bodyPr wrap="square">
            <a:spAutoFit/>
          </a:bodyPr>
          <a:lstStyle/>
          <a:p>
            <a:r>
              <a:rPr lang="en-US" b="1" dirty="0"/>
              <a:t>Note:</a:t>
            </a:r>
            <a:r>
              <a:rPr lang="en-US" dirty="0"/>
              <a:t> Some HTML elements have no content (like the &lt;</a:t>
            </a:r>
            <a:r>
              <a:rPr lang="en-US" dirty="0" err="1"/>
              <a:t>br</a:t>
            </a:r>
            <a:r>
              <a:rPr lang="en-US" dirty="0"/>
              <a:t>&gt; element). These elements are called empty elements. Empty elements do not have an end tag!</a:t>
            </a:r>
            <a:endParaRPr lang="en-IN" dirty="0"/>
          </a:p>
        </p:txBody>
      </p:sp>
    </p:spTree>
    <p:extLst>
      <p:ext uri="{BB962C8B-B14F-4D97-AF65-F5344CB8AC3E}">
        <p14:creationId xmlns:p14="http://schemas.microsoft.com/office/powerpoint/2010/main" val="3115210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34904-5876-4BF0-99C4-A4DBAFED1317}"/>
              </a:ext>
            </a:extLst>
          </p:cNvPr>
          <p:cNvSpPr>
            <a:spLocks noGrp="1"/>
          </p:cNvSpPr>
          <p:nvPr>
            <p:ph type="title"/>
          </p:nvPr>
        </p:nvSpPr>
        <p:spPr/>
        <p:txBody>
          <a:bodyPr/>
          <a:lstStyle/>
          <a:p>
            <a:r>
              <a:rPr lang="en-IN" dirty="0"/>
              <a:t>NESTED ELEMENTS</a:t>
            </a:r>
          </a:p>
        </p:txBody>
      </p:sp>
      <p:sp>
        <p:nvSpPr>
          <p:cNvPr id="3" name="Content Placeholder 2">
            <a:extLst>
              <a:ext uri="{FF2B5EF4-FFF2-40B4-BE49-F238E27FC236}">
                <a16:creationId xmlns:a16="http://schemas.microsoft.com/office/drawing/2014/main" id="{3296C9AD-B1A8-42EA-BA22-94A9DD367F4A}"/>
              </a:ext>
            </a:extLst>
          </p:cNvPr>
          <p:cNvSpPr>
            <a:spLocks noGrp="1"/>
          </p:cNvSpPr>
          <p:nvPr>
            <p:ph idx="1"/>
          </p:nvPr>
        </p:nvSpPr>
        <p:spPr/>
        <p:txBody>
          <a:bodyPr>
            <a:normAutofit fontScale="92500" lnSpcReduction="10000"/>
          </a:bodyPr>
          <a:lstStyle/>
          <a:p>
            <a:r>
              <a:rPr lang="en-US" sz="2800" b="1" dirty="0"/>
              <a:t>HTML elements can be nested (this means that elements can contain other elements).</a:t>
            </a:r>
          </a:p>
          <a:p>
            <a:r>
              <a:rPr lang="en-US" sz="2800" b="1" dirty="0"/>
              <a:t>All HTML documents consist of nested HTML elements.</a:t>
            </a:r>
          </a:p>
          <a:p>
            <a:endParaRPr lang="en-IN" dirty="0"/>
          </a:p>
          <a:p>
            <a:r>
              <a:rPr lang="en-US" dirty="0">
                <a:solidFill>
                  <a:srgbClr val="0000CD"/>
                </a:solidFill>
                <a:effectLst/>
              </a:rPr>
              <a:t>&lt;</a:t>
            </a:r>
            <a:r>
              <a:rPr lang="en-US" dirty="0">
                <a:solidFill>
                  <a:srgbClr val="FFFF00"/>
                </a:solidFill>
                <a:effectLst/>
              </a:rPr>
              <a:t>!DOCTYPE html</a:t>
            </a:r>
            <a:r>
              <a:rPr lang="en-US" dirty="0">
                <a:solidFill>
                  <a:srgbClr val="0000CD"/>
                </a:solidFill>
                <a:effectLst/>
              </a:rPr>
              <a:t>&gt;</a:t>
            </a:r>
            <a:br>
              <a:rPr lang="en-US" dirty="0"/>
            </a:br>
            <a:r>
              <a:rPr lang="en-US" dirty="0">
                <a:solidFill>
                  <a:srgbClr val="0000CD"/>
                </a:solidFill>
                <a:effectLst/>
              </a:rPr>
              <a:t>&lt;</a:t>
            </a:r>
            <a:r>
              <a:rPr lang="en-US" dirty="0">
                <a:solidFill>
                  <a:srgbClr val="FFFF00"/>
                </a:solidFill>
                <a:effectLst/>
              </a:rPr>
              <a:t>html</a:t>
            </a:r>
            <a:r>
              <a:rPr lang="en-US" dirty="0">
                <a:solidFill>
                  <a:srgbClr val="0000CD"/>
                </a:solidFill>
                <a:effectLst/>
              </a:rPr>
              <a:t>&gt;</a:t>
            </a:r>
            <a:br>
              <a:rPr lang="en-US" dirty="0"/>
            </a:br>
            <a:r>
              <a:rPr lang="en-US" dirty="0">
                <a:solidFill>
                  <a:srgbClr val="0000CD"/>
                </a:solidFill>
                <a:effectLst/>
              </a:rPr>
              <a:t>&lt;</a:t>
            </a:r>
            <a:r>
              <a:rPr lang="en-US" dirty="0">
                <a:solidFill>
                  <a:srgbClr val="FFFF00"/>
                </a:solidFill>
                <a:effectLst/>
              </a:rPr>
              <a:t>body</a:t>
            </a:r>
            <a:r>
              <a:rPr lang="en-US" dirty="0">
                <a:solidFill>
                  <a:srgbClr val="0000CD"/>
                </a:solidFill>
                <a:effectLst/>
              </a:rPr>
              <a:t>&gt;</a:t>
            </a:r>
            <a:br>
              <a:rPr lang="en-US" dirty="0"/>
            </a:br>
            <a:br>
              <a:rPr lang="en-US" dirty="0"/>
            </a:br>
            <a:r>
              <a:rPr lang="en-US" dirty="0">
                <a:solidFill>
                  <a:srgbClr val="0000CD"/>
                </a:solidFill>
                <a:effectLst/>
              </a:rPr>
              <a:t>&lt;</a:t>
            </a:r>
            <a:r>
              <a:rPr lang="en-US" dirty="0">
                <a:solidFill>
                  <a:srgbClr val="FFFF00"/>
                </a:solidFill>
                <a:effectLst/>
              </a:rPr>
              <a:t>h1</a:t>
            </a:r>
            <a:r>
              <a:rPr lang="en-US" dirty="0">
                <a:solidFill>
                  <a:srgbClr val="0000CD"/>
                </a:solidFill>
                <a:effectLst/>
              </a:rPr>
              <a:t>&gt;</a:t>
            </a:r>
            <a:r>
              <a:rPr lang="en-US" dirty="0"/>
              <a:t>My First Heading</a:t>
            </a:r>
            <a:r>
              <a:rPr lang="en-US" dirty="0">
                <a:solidFill>
                  <a:srgbClr val="0000CD"/>
                </a:solidFill>
                <a:effectLst/>
              </a:rPr>
              <a:t>&lt;</a:t>
            </a:r>
            <a:r>
              <a:rPr lang="en-US" dirty="0">
                <a:solidFill>
                  <a:srgbClr val="FFFF00"/>
                </a:solidFill>
                <a:effectLst/>
              </a:rPr>
              <a:t>/h1</a:t>
            </a:r>
            <a:r>
              <a:rPr lang="en-US" dirty="0">
                <a:solidFill>
                  <a:srgbClr val="0000CD"/>
                </a:solidFill>
                <a:effectLst/>
              </a:rPr>
              <a:t>&gt;</a:t>
            </a:r>
            <a:br>
              <a:rPr lang="en-US" dirty="0"/>
            </a:br>
            <a:r>
              <a:rPr lang="en-US" dirty="0">
                <a:solidFill>
                  <a:srgbClr val="0000CD"/>
                </a:solidFill>
                <a:effectLst/>
              </a:rPr>
              <a:t>&lt;</a:t>
            </a:r>
            <a:r>
              <a:rPr lang="en-US" dirty="0">
                <a:solidFill>
                  <a:srgbClr val="FFFF00"/>
                </a:solidFill>
                <a:effectLst/>
              </a:rPr>
              <a:t>p</a:t>
            </a:r>
            <a:r>
              <a:rPr lang="en-US" dirty="0">
                <a:solidFill>
                  <a:srgbClr val="0000CD"/>
                </a:solidFill>
                <a:effectLst/>
              </a:rPr>
              <a:t>&gt;</a:t>
            </a:r>
            <a:r>
              <a:rPr lang="en-US" dirty="0"/>
              <a:t>My first paragraph.</a:t>
            </a:r>
            <a:r>
              <a:rPr lang="en-US" dirty="0">
                <a:solidFill>
                  <a:srgbClr val="0000CD"/>
                </a:solidFill>
                <a:effectLst/>
              </a:rPr>
              <a:t>&lt;</a:t>
            </a:r>
            <a:r>
              <a:rPr lang="en-US" dirty="0">
                <a:solidFill>
                  <a:srgbClr val="FFFF00"/>
                </a:solidFill>
                <a:effectLst/>
              </a:rPr>
              <a:t>/p</a:t>
            </a:r>
            <a:r>
              <a:rPr lang="en-US" dirty="0">
                <a:solidFill>
                  <a:srgbClr val="0000CD"/>
                </a:solidFill>
                <a:effectLst/>
              </a:rPr>
              <a:t>&gt;</a:t>
            </a:r>
            <a:br>
              <a:rPr lang="en-US" dirty="0"/>
            </a:br>
            <a:br>
              <a:rPr lang="en-US" dirty="0"/>
            </a:br>
            <a:r>
              <a:rPr lang="en-US" dirty="0">
                <a:solidFill>
                  <a:srgbClr val="0000CD"/>
                </a:solidFill>
                <a:effectLst/>
              </a:rPr>
              <a:t>&lt;</a:t>
            </a:r>
            <a:r>
              <a:rPr lang="en-US" dirty="0">
                <a:solidFill>
                  <a:srgbClr val="FFFF00"/>
                </a:solidFill>
                <a:effectLst/>
              </a:rPr>
              <a:t>/body</a:t>
            </a:r>
            <a:r>
              <a:rPr lang="en-US" dirty="0">
                <a:solidFill>
                  <a:srgbClr val="0000CD"/>
                </a:solidFill>
                <a:effectLst/>
              </a:rPr>
              <a:t>&gt;</a:t>
            </a:r>
            <a:br>
              <a:rPr lang="en-US" dirty="0"/>
            </a:br>
            <a:r>
              <a:rPr lang="en-US" dirty="0">
                <a:solidFill>
                  <a:srgbClr val="0000CD"/>
                </a:solidFill>
                <a:effectLst/>
              </a:rPr>
              <a:t>&lt;</a:t>
            </a:r>
            <a:r>
              <a:rPr lang="en-US" dirty="0">
                <a:solidFill>
                  <a:srgbClr val="FFFF00"/>
                </a:solidFill>
                <a:effectLst/>
              </a:rPr>
              <a:t>/html</a:t>
            </a:r>
            <a:r>
              <a:rPr lang="en-US" dirty="0">
                <a:solidFill>
                  <a:srgbClr val="0000CD"/>
                </a:solidFill>
                <a:effectLst/>
              </a:rPr>
              <a:t>&gt;</a:t>
            </a:r>
            <a:r>
              <a:rPr lang="en-US" dirty="0"/>
              <a:t> </a:t>
            </a:r>
          </a:p>
          <a:p>
            <a:endParaRPr lang="en-IN" dirty="0"/>
          </a:p>
        </p:txBody>
      </p:sp>
    </p:spTree>
    <p:extLst>
      <p:ext uri="{BB962C8B-B14F-4D97-AF65-F5344CB8AC3E}">
        <p14:creationId xmlns:p14="http://schemas.microsoft.com/office/powerpoint/2010/main" val="3441354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175BE-9078-4339-BC66-90767EDB8C4C}"/>
              </a:ext>
            </a:extLst>
          </p:cNvPr>
          <p:cNvSpPr>
            <a:spLocks noGrp="1"/>
          </p:cNvSpPr>
          <p:nvPr>
            <p:ph type="title"/>
          </p:nvPr>
        </p:nvSpPr>
        <p:spPr/>
        <p:txBody>
          <a:bodyPr/>
          <a:lstStyle/>
          <a:p>
            <a:r>
              <a:rPr lang="en-IN" dirty="0"/>
              <a:t>Example explained</a:t>
            </a:r>
          </a:p>
        </p:txBody>
      </p:sp>
      <p:sp>
        <p:nvSpPr>
          <p:cNvPr id="4" name="Rectangle 1">
            <a:extLst>
              <a:ext uri="{FF2B5EF4-FFF2-40B4-BE49-F238E27FC236}">
                <a16:creationId xmlns:a16="http://schemas.microsoft.com/office/drawing/2014/main" id="{E9889E36-0C93-4016-9954-F5721AFD5CC2}"/>
              </a:ext>
            </a:extLst>
          </p:cNvPr>
          <p:cNvSpPr>
            <a:spLocks noGrp="1" noChangeArrowheads="1"/>
          </p:cNvSpPr>
          <p:nvPr>
            <p:ph idx="1"/>
          </p:nvPr>
        </p:nvSpPr>
        <p:spPr bwMode="auto">
          <a:xfrm>
            <a:off x="749838" y="3277455"/>
            <a:ext cx="1017740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The </a:t>
            </a:r>
            <a:r>
              <a:rPr kumimoji="0" lang="en-US" altLang="en-US" sz="2000" b="0" i="0" u="none" strike="noStrike" cap="none" normalizeH="0" baseline="0" dirty="0">
                <a:ln>
                  <a:noFill/>
                </a:ln>
                <a:solidFill>
                  <a:srgbClr val="FFFF00"/>
                </a:solidFill>
                <a:effectLst/>
                <a:latin typeface="Arial Rounded MT Bold" panose="020F0704030504030204" pitchFamily="34" charset="0"/>
              </a:rPr>
              <a:t>&lt;html&gt; </a:t>
            </a:r>
            <a:r>
              <a:rPr kumimoji="0" lang="en-US" altLang="en-US" sz="2000" b="0" i="0" u="none" strike="noStrike" cap="none" normalizeH="0" baseline="0" dirty="0">
                <a:ln>
                  <a:noFill/>
                </a:ln>
                <a:solidFill>
                  <a:schemeClr val="tx1"/>
                </a:solidFill>
                <a:effectLst/>
                <a:latin typeface="Arial Rounded MT Bold" panose="020F0704030504030204" pitchFamily="34" charset="0"/>
              </a:rPr>
              <a:t>element is the root element and it defines the whole HTML document.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It has a start tag </a:t>
            </a:r>
            <a:r>
              <a:rPr kumimoji="0" lang="en-US" altLang="en-US" sz="2000" b="0" i="0" u="none" strike="noStrike" cap="none" normalizeH="0" baseline="0" dirty="0">
                <a:ln>
                  <a:noFill/>
                </a:ln>
                <a:solidFill>
                  <a:srgbClr val="FFFF00"/>
                </a:solidFill>
                <a:effectLst/>
                <a:latin typeface="Arial Rounded MT Bold" panose="020F0704030504030204" pitchFamily="34" charset="0"/>
              </a:rPr>
              <a:t>&lt;html&gt; </a:t>
            </a:r>
            <a:r>
              <a:rPr kumimoji="0" lang="en-US" altLang="en-US" sz="2000" b="0" i="0" u="none" strike="noStrike" cap="none" normalizeH="0" baseline="0" dirty="0">
                <a:ln>
                  <a:noFill/>
                </a:ln>
                <a:solidFill>
                  <a:schemeClr val="tx1"/>
                </a:solidFill>
                <a:effectLst/>
                <a:latin typeface="Arial Rounded MT Bold" panose="020F0704030504030204" pitchFamily="34" charset="0"/>
              </a:rPr>
              <a:t>and an end tag </a:t>
            </a:r>
            <a:r>
              <a:rPr kumimoji="0" lang="en-US" altLang="en-US" sz="2000" b="0" i="0" u="none" strike="noStrike" cap="none" normalizeH="0" baseline="0" dirty="0">
                <a:ln>
                  <a:noFill/>
                </a:ln>
                <a:solidFill>
                  <a:srgbClr val="FFFF00"/>
                </a:solidFill>
                <a:effectLst/>
                <a:latin typeface="Arial Rounded MT Bold" panose="020F0704030504030204" pitchFamily="34" charset="0"/>
              </a:rPr>
              <a:t>&lt;/html&gt;.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Rounded MT Bold" panose="020F0704030504030204" pitchFamily="34" charset="0"/>
              </a:rPr>
              <a:t>Then, inside the </a:t>
            </a:r>
            <a:r>
              <a:rPr kumimoji="0" lang="en-US" altLang="en-US" sz="2000" b="0" i="0" u="none" strike="noStrike" cap="none" normalizeH="0" baseline="0" dirty="0">
                <a:ln>
                  <a:noFill/>
                </a:ln>
                <a:solidFill>
                  <a:srgbClr val="FFFF00"/>
                </a:solidFill>
                <a:effectLst/>
                <a:latin typeface="Arial Rounded MT Bold" panose="020F0704030504030204" pitchFamily="34" charset="0"/>
              </a:rPr>
              <a:t>&lt;html&gt; </a:t>
            </a:r>
            <a:r>
              <a:rPr kumimoji="0" lang="en-US" altLang="en-US" sz="2000" b="0" i="0" u="none" strike="noStrike" cap="none" normalizeH="0" baseline="0" dirty="0">
                <a:ln>
                  <a:noFill/>
                </a:ln>
                <a:solidFill>
                  <a:schemeClr val="tx1"/>
                </a:solidFill>
                <a:effectLst/>
                <a:latin typeface="Arial Rounded MT Bold" panose="020F0704030504030204" pitchFamily="34" charset="0"/>
              </a:rPr>
              <a:t>element there is a &lt;body&gt; element:</a:t>
            </a:r>
          </a:p>
        </p:txBody>
      </p:sp>
    </p:spTree>
    <p:extLst>
      <p:ext uri="{BB962C8B-B14F-4D97-AF65-F5344CB8AC3E}">
        <p14:creationId xmlns:p14="http://schemas.microsoft.com/office/powerpoint/2010/main" val="2049699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E3FE6-77D3-4A6C-A9B5-29096B768364}"/>
              </a:ext>
            </a:extLst>
          </p:cNvPr>
          <p:cNvSpPr>
            <a:spLocks noGrp="1"/>
          </p:cNvSpPr>
          <p:nvPr>
            <p:ph type="title"/>
          </p:nvPr>
        </p:nvSpPr>
        <p:spPr/>
        <p:txBody>
          <a:bodyPr/>
          <a:lstStyle/>
          <a:p>
            <a:r>
              <a:rPr lang="en-IN" dirty="0"/>
              <a:t>Example explained</a:t>
            </a:r>
          </a:p>
        </p:txBody>
      </p:sp>
      <p:sp>
        <p:nvSpPr>
          <p:cNvPr id="3" name="Content Placeholder 2">
            <a:extLst>
              <a:ext uri="{FF2B5EF4-FFF2-40B4-BE49-F238E27FC236}">
                <a16:creationId xmlns:a16="http://schemas.microsoft.com/office/drawing/2014/main" id="{ABE69845-338A-4081-8A9D-A4FE7982A5C7}"/>
              </a:ext>
            </a:extLst>
          </p:cNvPr>
          <p:cNvSpPr>
            <a:spLocks noGrp="1"/>
          </p:cNvSpPr>
          <p:nvPr>
            <p:ph idx="1"/>
          </p:nvPr>
        </p:nvSpPr>
        <p:spPr>
          <a:xfrm>
            <a:off x="1202919" y="2222980"/>
            <a:ext cx="9784080" cy="2412039"/>
          </a:xfrm>
        </p:spPr>
        <p:txBody>
          <a:bodyPr/>
          <a:lstStyle/>
          <a:p>
            <a:r>
              <a:rPr lang="en-US" dirty="0">
                <a:solidFill>
                  <a:srgbClr val="FFFF00"/>
                </a:solidFill>
                <a:effectLst/>
              </a:rPr>
              <a:t>&lt;body&gt;</a:t>
            </a:r>
            <a:br>
              <a:rPr lang="en-US" dirty="0"/>
            </a:br>
            <a:br>
              <a:rPr lang="en-US" dirty="0"/>
            </a:br>
            <a:r>
              <a:rPr lang="en-US" dirty="0">
                <a:solidFill>
                  <a:srgbClr val="FFFF00"/>
                </a:solidFill>
                <a:effectLst/>
              </a:rPr>
              <a:t>&lt;h1&gt;</a:t>
            </a:r>
            <a:r>
              <a:rPr lang="en-US" dirty="0"/>
              <a:t>My First Heading</a:t>
            </a:r>
            <a:r>
              <a:rPr lang="en-US" dirty="0">
                <a:solidFill>
                  <a:srgbClr val="FFFF00"/>
                </a:solidFill>
                <a:effectLst/>
              </a:rPr>
              <a:t>&lt;/h1&gt;</a:t>
            </a:r>
            <a:br>
              <a:rPr lang="en-US" dirty="0"/>
            </a:br>
            <a:r>
              <a:rPr lang="en-US" dirty="0">
                <a:solidFill>
                  <a:srgbClr val="FFFF00"/>
                </a:solidFill>
                <a:effectLst/>
              </a:rPr>
              <a:t>&lt;p&gt;</a:t>
            </a:r>
            <a:r>
              <a:rPr lang="en-US" dirty="0"/>
              <a:t>My first paragraph.</a:t>
            </a:r>
            <a:r>
              <a:rPr lang="en-US" dirty="0">
                <a:solidFill>
                  <a:srgbClr val="FFFF00"/>
                </a:solidFill>
                <a:effectLst/>
              </a:rPr>
              <a:t>&lt;/p&gt;</a:t>
            </a:r>
            <a:br>
              <a:rPr lang="en-US" dirty="0"/>
            </a:br>
            <a:br>
              <a:rPr lang="en-US" dirty="0"/>
            </a:br>
            <a:r>
              <a:rPr lang="en-US" dirty="0">
                <a:solidFill>
                  <a:srgbClr val="FFFF00"/>
                </a:solidFill>
                <a:effectLst/>
              </a:rPr>
              <a:t>&lt;/body&gt;</a:t>
            </a:r>
            <a:r>
              <a:rPr lang="en-US" dirty="0">
                <a:solidFill>
                  <a:srgbClr val="FFFF00"/>
                </a:solidFill>
              </a:rPr>
              <a:t> </a:t>
            </a:r>
          </a:p>
          <a:p>
            <a:endParaRPr lang="en-IN" dirty="0"/>
          </a:p>
        </p:txBody>
      </p:sp>
    </p:spTree>
    <p:extLst>
      <p:ext uri="{BB962C8B-B14F-4D97-AF65-F5344CB8AC3E}">
        <p14:creationId xmlns:p14="http://schemas.microsoft.com/office/powerpoint/2010/main" val="2914317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4087D-ADBC-43B6-85BE-2E4439D8FF3D}"/>
              </a:ext>
            </a:extLst>
          </p:cNvPr>
          <p:cNvSpPr>
            <a:spLocks noGrp="1"/>
          </p:cNvSpPr>
          <p:nvPr>
            <p:ph type="title"/>
          </p:nvPr>
        </p:nvSpPr>
        <p:spPr/>
        <p:txBody>
          <a:bodyPr/>
          <a:lstStyle/>
          <a:p>
            <a:r>
              <a:rPr lang="en-US"/>
              <a:t>		THANK </a:t>
            </a:r>
            <a:r>
              <a:rPr lang="en-US" dirty="0"/>
              <a:t>YOU VERY MUCH</a:t>
            </a:r>
            <a:endParaRPr lang="en-IN" dirty="0"/>
          </a:p>
        </p:txBody>
      </p:sp>
    </p:spTree>
    <p:extLst>
      <p:ext uri="{BB962C8B-B14F-4D97-AF65-F5344CB8AC3E}">
        <p14:creationId xmlns:p14="http://schemas.microsoft.com/office/powerpoint/2010/main" val="34161024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606060"/>
      </a:dk2>
      <a:lt2>
        <a:srgbClr val="EDEDED"/>
      </a:lt2>
      <a:accent1>
        <a:srgbClr val="FFC000"/>
      </a:accent1>
      <a:accent2>
        <a:srgbClr val="A5D028"/>
      </a:accent2>
      <a:accent3>
        <a:srgbClr val="0CC978"/>
      </a:accent3>
      <a:accent4>
        <a:srgbClr val="099BDD"/>
      </a:accent4>
      <a:accent5>
        <a:srgbClr val="47BFCD"/>
      </a:accent5>
      <a:accent6>
        <a:srgbClr val="DD7C15"/>
      </a:accent6>
      <a:hlink>
        <a:srgbClr val="FF9933"/>
      </a:hlink>
      <a:folHlink>
        <a:srgbClr val="B2B2B2"/>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B1D2DA32-AC8B-4194-BF85-FF4A5B40EB50}"/>
    </a:ext>
  </a:extLst>
</a:theme>
</file>

<file path=docProps/app.xml><?xml version="1.0" encoding="utf-8"?>
<Properties xmlns="http://schemas.openxmlformats.org/officeDocument/2006/extended-properties" xmlns:vt="http://schemas.openxmlformats.org/officeDocument/2006/docPropsVTypes">
  <Template>TM03090430[[fn=Banded]]</Template>
  <TotalTime>390</TotalTime>
  <Words>1132</Words>
  <Application>Microsoft Office PowerPoint</Application>
  <PresentationFormat>Widescreen</PresentationFormat>
  <Paragraphs>149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 Rounded MT Bold</vt:lpstr>
      <vt:lpstr>Arial Unicode MS</vt:lpstr>
      <vt:lpstr>Corbel</vt:lpstr>
      <vt:lpstr>Wingdings</vt:lpstr>
      <vt:lpstr>Banded</vt:lpstr>
      <vt:lpstr>HTML SESSIONS</vt:lpstr>
      <vt:lpstr>HTML INTRODUCTION</vt:lpstr>
      <vt:lpstr>WHAT IS HTML?</vt:lpstr>
      <vt:lpstr>SIMPLE HTML DOCUMENT</vt:lpstr>
      <vt:lpstr>EXPLAINATION</vt:lpstr>
      <vt:lpstr>EXPLAINATION</vt:lpstr>
      <vt:lpstr>WHAT IS AN HTML ELEMENT?</vt:lpstr>
      <vt:lpstr>HTML PAGE STRUCTURE</vt:lpstr>
      <vt:lpstr>HTML HISTORY</vt:lpstr>
      <vt:lpstr>HTML DOCUMENTS</vt:lpstr>
      <vt:lpstr>THE &lt;!DOCTYPE&gt; DECLARATION</vt:lpstr>
      <vt:lpstr>HTML HEADINGS</vt:lpstr>
      <vt:lpstr>HTML PARAGRAPHS</vt:lpstr>
      <vt:lpstr>HTML LINKS</vt:lpstr>
      <vt:lpstr>Html image</vt:lpstr>
      <vt:lpstr>HOW TO VIEW HTML SOURCE?</vt:lpstr>
      <vt:lpstr>HTML ELEMENTS</vt:lpstr>
      <vt:lpstr>HTML ELEMENTS</vt:lpstr>
      <vt:lpstr>NESTED ELEMENTS</vt:lpstr>
      <vt:lpstr>Example explained</vt:lpstr>
      <vt:lpstr>Example explained</vt:lpstr>
      <vt:lpstr>  THANK YOU VERY MUCH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SESSIONS</dc:title>
  <dc:creator>Kalpesh Pawar</dc:creator>
  <cp:lastModifiedBy>Kalpesh Pawar</cp:lastModifiedBy>
  <cp:revision>25</cp:revision>
  <dcterms:created xsi:type="dcterms:W3CDTF">2020-11-01T07:21:13Z</dcterms:created>
  <dcterms:modified xsi:type="dcterms:W3CDTF">2020-11-04T10:27:12Z</dcterms:modified>
</cp:coreProperties>
</file>